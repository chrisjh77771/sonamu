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30초. PineShield는 시민이 발견한 나무의 이상 징후를 담당자의 확인과 처리로 연결하는 서비스입니다. AI는 사진 관찰을 돕고, 실제 확인과 대응은 담당자가 수행합니다.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30초. 이 프로젝트의 목표는 제보를 받는 데서 멈추지 않고, 확인과 처리 결과 안내까지 연결하는 것입니다. 다음은 실제 기능 흐름입니다.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35초. 시민은 사진과 위치를 등록하고, AI가 관찰 결과를 정리합니다. 담당자는 제보를 확인해 상태와 안내를 저장합니다. 시민은 발급받은 접수번호로 변경 이력까지 조회합니다.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35초. 제보의 기본 정보는 사진, 발견 위치, 설명입니다. 사진은 자동 압축해 전송하고 저장합니다. 현재 위치는 나무 위치와 다를 수 있으므로 핀을 옮겨 수정할 수 있고, 직접 지도에서 선택할 수도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40초. AI는 갈변과 마름처럼 사진에서 확인할 수 있는 징후를 관찰합니다. 심각도는 낮음, 보통, 높음, 판단 보류로 구분하고 근거를 함께 제공합니다. 이 결과는 사진만으로 재선충병을 확진하는 진단이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30초. 접수가 완료되면 영문과 숫자로 된 5자리 번호가 발급됩니다. 시민은 진행상황 조회 탭에서 접수, 확인 중, 처리 완료 상태와 담당자 안내, 변경 이력을 확인합니다. 화면의 번호는 설명을 위한 예시입니다.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40초. 제공된 실제 사이트 화면에는 접수 5건, 확인 중 0건, 처리 완료 3건, 우선 확인 2건이 표시되어 있습니다. 이 숫자는 캡처 당시의 예시이지 성과 지표는 아닙니다. 상태별 탭과 심각도 필터, 위치 또는 접수번호 검색으로 제보를 좁힐 수 있습니다. 하단은 지도와 제보 목록으로 나뉘며, 미처리 및 심각도가 높은 제보부터 보도록 안내하고 20초마다 자동 갱신합니다. 이 슬라이드는 제공 화면의 구성을 도식으로 재정리한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30초. 지도에서는 제보 위치를 모아 보고 심각도별 색상으로 구분합니다. 처리 상태와 심각도 필터, 검색을 통해 우선 확인할 제보를 찾을 수 있습니다. 왼쪽 그림은 실제 화면이 아닌 개념도입니다.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45초. 최근 제보의 위치, 접수 시점, AI 심각도를 비교해 주변 확인 구역을 표시합니다. 여러 지점에서 시간차를 두고 일관된 방향으로 제보가 이어지면 다음 확인 후보 방향도 제시합니다. 이는 공간 규칙에 따른 참고 추정이며 실제 감염 경로를 검증한 예측 모델이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40초. 화면은 HTML, CSS, JavaScript로 구현했습니다. 사진 분석은 Vercel AI Gateway를 통해 GPT-4o-mini를 사용합니다. 지도는 Leaflet과 OpenStreetMap, 사진과 기록 저장은 비공개 Vercel Blob을 사용합니다. 담당자 로그인은 서버의 비밀번호 해시 검증과 로그인 쿠키를 사용하며 Vercel로 공개 배포합니다.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25초. 역할은 발표용 제안안입니다. 박주호는 시민 화면과 이용 흐름, 조형준은 AI와 데이터 및 로그인, 도광민은 지도와 관리 및 배포를 담당하는 구성입니다. 실제 작업 내역에 맞게 조정해서 사용해야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1분. 이 페이지의 링크로 서비스를 열어 한 건의 제보를 따라가며 시연합니다. 테스트용 제보임을 명시하고, 사진과 위치 등록, AI 결과, 담당자 처리, 시민 조회 순서로 보여줍니다. 제공된 스크린샷으로 관리 화면 구성을 확인했습니다. 사이트 직접 접속은 제작 환경에서 HTTP 403을 반환해 기능 동작은 직접 검증하지 못했습니다. 발표 전에 접속과 시연 데이터를 확인하세요.</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20초. PineShield는 시민의 사진 제보와 AI 관찰, 담당자 확인과 결과 안내를 연결하는 소나무 보호 서비스입니다. AI 결과와 공간 분석은 현장 확인을 돕는 참고 정보로 활용합니다.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ineshield-forest.vercel.app/#reports" TargetMode="Externa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6EF"/>
        </a:solidFill>
        <a:effectLst/>
      </p:bgPr>
    </p:bg>
    <p:spTree>
      <p:nvGrpSpPr>
        <p:cNvPr id="1" name=""/>
        <p:cNvGrpSpPr/>
        <p:nvPr/>
      </p:nvGrpSpPr>
      <p:grpSpPr/>
      <p:sp>
        <p:nvSpPr>
          <p:cNvPr id="2" name="TextBox 1"/>
          <p:cNvSpPr txBox="1"/>
          <p:nvPr/>
        </p:nvSpPr>
        <p:spPr>
          <a:xfrm>
            <a:off x="502920" y="210312"/>
            <a:ext cx="10058400" cy="274320"/>
          </a:xfrm>
          <a:prstGeom prst="rect">
            <a:avLst/>
          </a:prstGeom>
          <a:noFill/>
        </p:spPr>
        <p:txBody>
          <a:bodyPr wrap="square">
            <a:spAutoFit/>
          </a:bodyPr>
          <a:lstStyle/>
          <a:p>
            <a:pPr>
              <a:spcAft>
                <a:spcPts val="1000"/>
              </a:spcAft>
              <a:defRPr sz="1000" b="1">
                <a:solidFill>
                  <a:srgbClr val="23785A"/>
                </a:solidFill>
                <a:latin typeface="Noto Sans CJK KR"/>
              </a:defRPr>
            </a:pPr>
            <a:r>
              <a:t>PINESHIELD   /   시민 참여형 소나무 보호 서비스</a:t>
            </a:r>
          </a:p>
        </p:txBody>
      </p:sp>
      <p:sp>
        <p:nvSpPr>
          <p:cNvPr id="3" name="TextBox 2"/>
          <p:cNvSpPr txBox="1"/>
          <p:nvPr/>
        </p:nvSpPr>
        <p:spPr>
          <a:xfrm>
            <a:off x="548640" y="822960"/>
            <a:ext cx="10972800" cy="685800"/>
          </a:xfrm>
          <a:prstGeom prst="rect">
            <a:avLst/>
          </a:prstGeom>
          <a:noFill/>
        </p:spPr>
        <p:txBody>
          <a:bodyPr wrap="square">
            <a:spAutoFit/>
          </a:bodyPr>
          <a:lstStyle/>
          <a:p>
            <a:pPr>
              <a:spcAft>
                <a:spcPts val="1000"/>
              </a:spcAft>
              <a:defRPr sz="3000" b="1">
                <a:solidFill>
                  <a:srgbClr val="173C31"/>
                </a:solidFill>
                <a:latin typeface="Noto Sans CJK KR"/>
              </a:defRPr>
            </a:pPr>
            <a:r>
              <a:t>PineShield</a:t>
            </a:r>
          </a:p>
        </p:txBody>
      </p:sp>
      <p:sp>
        <p:nvSpPr>
          <p:cNvPr id="4" name="TextBox 3"/>
          <p:cNvSpPr txBox="1"/>
          <p:nvPr/>
        </p:nvSpPr>
        <p:spPr>
          <a:xfrm>
            <a:off x="576072" y="1572768"/>
            <a:ext cx="10972800" cy="594360"/>
          </a:xfrm>
          <a:prstGeom prst="rect">
            <a:avLst/>
          </a:prstGeom>
          <a:noFill/>
        </p:spPr>
        <p:txBody>
          <a:bodyPr wrap="square">
            <a:spAutoFit/>
          </a:bodyPr>
          <a:lstStyle/>
          <a:p>
            <a:pPr>
              <a:spcAft>
                <a:spcPts val="1000"/>
              </a:spcAft>
              <a:defRPr sz="1500" b="0">
                <a:solidFill>
                  <a:srgbClr val="62776C"/>
                </a:solidFill>
                <a:latin typeface="Noto Sans CJK KR"/>
              </a:defRPr>
            </a:pPr>
            <a:r>
              <a:t>시민의 제보를, 소나무를 지키는 다음 행동으로</a:t>
            </a:r>
          </a:p>
        </p:txBody>
      </p:sp>
      <p:sp>
        <p:nvSpPr>
          <p:cNvPr id="5" name="Rectangle 4"/>
          <p:cNvSpPr/>
          <p:nvPr/>
        </p:nvSpPr>
        <p:spPr>
          <a:xfrm>
            <a:off x="548640" y="6382512"/>
            <a:ext cx="11064240" cy="10972"/>
          </a:xfrm>
          <a:prstGeom prst="rect">
            <a:avLst/>
          </a:prstGeom>
          <a:solidFill>
            <a:srgbClr val="DBE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510528"/>
            <a:ext cx="9144000" cy="201168"/>
          </a:xfrm>
          <a:prstGeom prst="rect">
            <a:avLst/>
          </a:prstGeom>
          <a:noFill/>
        </p:spPr>
        <p:txBody>
          <a:bodyPr wrap="square">
            <a:spAutoFit/>
          </a:bodyPr>
          <a:lstStyle/>
          <a:p>
            <a:pPr>
              <a:spcAft>
                <a:spcPts val="1000"/>
              </a:spcAft>
              <a:defRPr sz="900" b="0">
                <a:solidFill>
                  <a:srgbClr val="62776C"/>
                </a:solidFill>
                <a:latin typeface="Noto Sans CJK KR"/>
              </a:defRPr>
            </a:pPr>
            <a:r>
              <a:t>박주호 · 조형준 · 도광민</a:t>
            </a:r>
          </a:p>
        </p:txBody>
      </p:sp>
      <p:sp>
        <p:nvSpPr>
          <p:cNvPr id="7" name="TextBox 6"/>
          <p:cNvSpPr txBox="1"/>
          <p:nvPr/>
        </p:nvSpPr>
        <p:spPr>
          <a:xfrm>
            <a:off x="10972800" y="6473952"/>
            <a:ext cx="640080" cy="274320"/>
          </a:xfrm>
          <a:prstGeom prst="rect">
            <a:avLst/>
          </a:prstGeom>
          <a:noFill/>
        </p:spPr>
        <p:txBody>
          <a:bodyPr wrap="square">
            <a:spAutoFit/>
          </a:bodyPr>
          <a:lstStyle/>
          <a:p>
            <a:pPr>
              <a:spcAft>
                <a:spcPts val="1000"/>
              </a:spcAft>
              <a:defRPr sz="900" b="0">
                <a:solidFill>
                  <a:srgbClr val="62776C"/>
                </a:solidFill>
                <a:latin typeface="Noto Sans CJK KR"/>
              </a:defRPr>
            </a:pPr>
            <a:r>
              <a:t>01 / 13</a:t>
            </a:r>
          </a:p>
        </p:txBody>
      </p:sp>
      <p:sp>
        <p:nvSpPr>
          <p:cNvPr id="8" name="Rounded Rectangle 7"/>
          <p:cNvSpPr/>
          <p:nvPr/>
        </p:nvSpPr>
        <p:spPr>
          <a:xfrm>
            <a:off x="594360" y="2468880"/>
            <a:ext cx="7406640" cy="3337560"/>
          </a:xfrm>
          <a:prstGeom prst="roundRect">
            <a:avLst/>
          </a:prstGeom>
          <a:solidFill>
            <a:srgbClr val="17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816352"/>
            <a:ext cx="6675120" cy="2011680"/>
          </a:xfrm>
          <a:prstGeom prst="rect">
            <a:avLst/>
          </a:prstGeom>
          <a:noFill/>
        </p:spPr>
        <p:txBody>
          <a:bodyPr wrap="square">
            <a:spAutoFit/>
          </a:bodyPr>
          <a:lstStyle/>
          <a:p>
            <a:pPr>
              <a:spcAft>
                <a:spcPts val="1000"/>
              </a:spcAft>
              <a:defRPr sz="2500" b="1">
                <a:solidFill>
                  <a:srgbClr val="FFFFFF"/>
                </a:solidFill>
                <a:latin typeface="Noto Sans CJK KR"/>
              </a:defRPr>
            </a:pPr>
            <a:r>
              <a:t>시민의 사진 제보부터</a:t>
            </a:r>
          </a:p>
          <a:p>
            <a:pPr>
              <a:spcAft>
                <a:spcPts val="1000"/>
              </a:spcAft>
              <a:defRPr sz="2500" b="1">
                <a:solidFill>
                  <a:srgbClr val="FFFFFF"/>
                </a:solidFill>
                <a:latin typeface="Noto Sans CJK KR"/>
              </a:defRPr>
            </a:pPr>
            <a:r>
              <a:t>AI 이상 징후 분석, 담당자의 현장 확인과</a:t>
            </a:r>
          </a:p>
          <a:p>
            <a:pPr>
              <a:spcAft>
                <a:spcPts val="1000"/>
              </a:spcAft>
              <a:defRPr sz="2500" b="1">
                <a:solidFill>
                  <a:srgbClr val="FFFFFF"/>
                </a:solidFill>
                <a:latin typeface="Noto Sans CJK KR"/>
              </a:defRPr>
            </a:pPr>
            <a:r>
              <a:t>처리 결과 안내까지 연결하는</a:t>
            </a:r>
          </a:p>
          <a:p>
            <a:pPr>
              <a:spcAft>
                <a:spcPts val="1000"/>
              </a:spcAft>
              <a:defRPr sz="2500" b="1">
                <a:solidFill>
                  <a:srgbClr val="FFFFFF"/>
                </a:solidFill>
                <a:latin typeface="Noto Sans CJK KR"/>
              </a:defRPr>
            </a:pPr>
            <a:r>
              <a:t>소나무 보호 서비스.</a:t>
            </a:r>
          </a:p>
        </p:txBody>
      </p:sp>
      <p:sp>
        <p:nvSpPr>
          <p:cNvPr id="10" name="Isosceles Triangle 9"/>
          <p:cNvSpPr/>
          <p:nvPr/>
        </p:nvSpPr>
        <p:spPr>
          <a:xfrm>
            <a:off x="8229600" y="2514600"/>
            <a:ext cx="2560320" cy="1828800"/>
          </a:xfrm>
          <a:prstGeom prst="triangle">
            <a:avLst/>
          </a:prstGeom>
          <a:solidFill>
            <a:srgbClr val="237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Isosceles Triangle 10"/>
          <p:cNvSpPr/>
          <p:nvPr/>
        </p:nvSpPr>
        <p:spPr>
          <a:xfrm>
            <a:off x="8503920" y="3200400"/>
            <a:ext cx="2331720" cy="1828800"/>
          </a:xfrm>
          <a:prstGeom prst="triangle">
            <a:avLst/>
          </a:prstGeom>
          <a:solidFill>
            <a:srgbClr val="3287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Isosceles Triangle 11"/>
          <p:cNvSpPr/>
          <p:nvPr/>
        </p:nvSpPr>
        <p:spPr>
          <a:xfrm>
            <a:off x="8778240" y="3886200"/>
            <a:ext cx="2103120" cy="1828800"/>
          </a:xfrm>
          <a:prstGeom prst="triangle">
            <a:avLst/>
          </a:prstGeom>
          <a:solidFill>
            <a:srgbClr val="4B9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281160" y="5029200"/>
            <a:ext cx="228600" cy="594360"/>
          </a:xfrm>
          <a:prstGeom prst="rect">
            <a:avLst/>
          </a:prstGeom>
          <a:solidFill>
            <a:srgbClr val="17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20" y="5715000"/>
            <a:ext cx="2743200" cy="320040"/>
          </a:xfrm>
          <a:prstGeom prst="rect">
            <a:avLst/>
          </a:prstGeom>
          <a:noFill/>
        </p:spPr>
        <p:txBody>
          <a:bodyPr wrap="square">
            <a:spAutoFit/>
          </a:bodyPr>
          <a:lstStyle/>
          <a:p>
            <a:pPr>
              <a:spcAft>
                <a:spcPts val="1000"/>
              </a:spcAft>
              <a:defRPr sz="1000" b="1">
                <a:solidFill>
                  <a:srgbClr val="23785A"/>
                </a:solidFill>
                <a:latin typeface="Noto Sans CJK KR"/>
              </a:defRPr>
            </a:pPr>
            <a:r>
              <a:t>REPORT → REVIEW → RESPOND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EF"/>
        </a:solidFill>
        <a:effectLst/>
      </p:bgPr>
    </p:bg>
    <p:spTree>
      <p:nvGrpSpPr>
        <p:cNvPr id="1" name=""/>
        <p:cNvGrpSpPr/>
        <p:nvPr/>
      </p:nvGrpSpPr>
      <p:grpSpPr/>
      <p:sp>
        <p:nvSpPr>
          <p:cNvPr id="2" name="TextBox 1"/>
          <p:cNvSpPr txBox="1"/>
          <p:nvPr/>
        </p:nvSpPr>
        <p:spPr>
          <a:xfrm>
            <a:off x="502920" y="210312"/>
            <a:ext cx="10058400" cy="274320"/>
          </a:xfrm>
          <a:prstGeom prst="rect">
            <a:avLst/>
          </a:prstGeom>
          <a:noFill/>
        </p:spPr>
        <p:txBody>
          <a:bodyPr wrap="square">
            <a:spAutoFit/>
          </a:bodyPr>
          <a:lstStyle/>
          <a:p>
            <a:pPr>
              <a:spcAft>
                <a:spcPts val="1000"/>
              </a:spcAft>
              <a:defRPr sz="1000" b="1">
                <a:solidFill>
                  <a:srgbClr val="23785A"/>
                </a:solidFill>
                <a:latin typeface="Noto Sans CJK KR"/>
              </a:defRPr>
            </a:pPr>
            <a:r>
              <a:t>PINESHIELD   /   시민 참여형 소나무 보호 서비스</a:t>
            </a:r>
          </a:p>
        </p:txBody>
      </p:sp>
      <p:sp>
        <p:nvSpPr>
          <p:cNvPr id="3" name="TextBox 2"/>
          <p:cNvSpPr txBox="1"/>
          <p:nvPr/>
        </p:nvSpPr>
        <p:spPr>
          <a:xfrm>
            <a:off x="548640" y="822960"/>
            <a:ext cx="10972800" cy="685800"/>
          </a:xfrm>
          <a:prstGeom prst="rect">
            <a:avLst/>
          </a:prstGeom>
          <a:noFill/>
        </p:spPr>
        <p:txBody>
          <a:bodyPr wrap="square">
            <a:spAutoFit/>
          </a:bodyPr>
          <a:lstStyle/>
          <a:p>
            <a:pPr>
              <a:spcAft>
                <a:spcPts val="1000"/>
              </a:spcAft>
              <a:defRPr sz="3000" b="1">
                <a:solidFill>
                  <a:srgbClr val="173C31"/>
                </a:solidFill>
                <a:latin typeface="Noto Sans CJK KR"/>
              </a:defRPr>
            </a:pPr>
            <a:r>
              <a:t>발견에서 대응까지, 하나의 흐름으로</a:t>
            </a:r>
          </a:p>
        </p:txBody>
      </p:sp>
      <p:sp>
        <p:nvSpPr>
          <p:cNvPr id="4" name="TextBox 3"/>
          <p:cNvSpPr txBox="1"/>
          <p:nvPr/>
        </p:nvSpPr>
        <p:spPr>
          <a:xfrm>
            <a:off x="576072" y="1572768"/>
            <a:ext cx="10972800" cy="594360"/>
          </a:xfrm>
          <a:prstGeom prst="rect">
            <a:avLst/>
          </a:prstGeom>
          <a:noFill/>
        </p:spPr>
        <p:txBody>
          <a:bodyPr wrap="square">
            <a:spAutoFit/>
          </a:bodyPr>
          <a:lstStyle/>
          <a:p>
            <a:pPr>
              <a:spcAft>
                <a:spcPts val="1000"/>
              </a:spcAft>
              <a:defRPr sz="1500" b="0">
                <a:solidFill>
                  <a:srgbClr val="62776C"/>
                </a:solidFill>
                <a:latin typeface="Noto Sans CJK KR"/>
              </a:defRPr>
            </a:pPr>
            <a:r>
              <a:t>기획 배경  /  시민의 발견을 담당자의 확인과 시민 안내로 연결합니다.</a:t>
            </a:r>
          </a:p>
        </p:txBody>
      </p:sp>
      <p:sp>
        <p:nvSpPr>
          <p:cNvPr id="5" name="Rectangle 4"/>
          <p:cNvSpPr/>
          <p:nvPr/>
        </p:nvSpPr>
        <p:spPr>
          <a:xfrm>
            <a:off x="548640" y="6382512"/>
            <a:ext cx="11064240" cy="10972"/>
          </a:xfrm>
          <a:prstGeom prst="rect">
            <a:avLst/>
          </a:prstGeom>
          <a:solidFill>
            <a:srgbClr val="DBE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510528"/>
            <a:ext cx="9144000" cy="201168"/>
          </a:xfrm>
          <a:prstGeom prst="rect">
            <a:avLst/>
          </a:prstGeom>
          <a:noFill/>
        </p:spPr>
        <p:txBody>
          <a:bodyPr wrap="square">
            <a:spAutoFit/>
          </a:bodyPr>
          <a:lstStyle/>
          <a:p>
            <a:pPr>
              <a:spcAft>
                <a:spcPts val="1000"/>
              </a:spcAft>
              <a:defRPr sz="900" b="0">
                <a:solidFill>
                  <a:srgbClr val="62776C"/>
                </a:solidFill>
                <a:latin typeface="Noto Sans CJK KR"/>
              </a:defRPr>
            </a:pPr>
            <a:r>
              <a:t>박주호 · 조형준 · 도광민</a:t>
            </a:r>
          </a:p>
        </p:txBody>
      </p:sp>
      <p:sp>
        <p:nvSpPr>
          <p:cNvPr id="7" name="TextBox 6"/>
          <p:cNvSpPr txBox="1"/>
          <p:nvPr/>
        </p:nvSpPr>
        <p:spPr>
          <a:xfrm>
            <a:off x="10972800" y="6473952"/>
            <a:ext cx="640080" cy="274320"/>
          </a:xfrm>
          <a:prstGeom prst="rect">
            <a:avLst/>
          </a:prstGeom>
          <a:noFill/>
        </p:spPr>
        <p:txBody>
          <a:bodyPr wrap="square">
            <a:spAutoFit/>
          </a:bodyPr>
          <a:lstStyle/>
          <a:p>
            <a:pPr>
              <a:spcAft>
                <a:spcPts val="1000"/>
              </a:spcAft>
              <a:defRPr sz="900" b="0">
                <a:solidFill>
                  <a:srgbClr val="62776C"/>
                </a:solidFill>
                <a:latin typeface="Noto Sans CJK KR"/>
              </a:defRPr>
            </a:pPr>
            <a:r>
              <a:t>02 / 13</a:t>
            </a:r>
          </a:p>
        </p:txBody>
      </p:sp>
      <p:sp>
        <p:nvSpPr>
          <p:cNvPr id="8" name="Rounded Rectangle 7"/>
          <p:cNvSpPr/>
          <p:nvPr/>
        </p:nvSpPr>
        <p:spPr>
          <a:xfrm>
            <a:off x="594360" y="2423160"/>
            <a:ext cx="3520440" cy="3337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606040"/>
            <a:ext cx="3099816" cy="365760"/>
          </a:xfrm>
          <a:prstGeom prst="rect">
            <a:avLst/>
          </a:prstGeom>
          <a:noFill/>
        </p:spPr>
        <p:txBody>
          <a:bodyPr wrap="square">
            <a:spAutoFit/>
          </a:bodyPr>
          <a:lstStyle/>
          <a:p>
            <a:pPr>
              <a:spcAft>
                <a:spcPts val="1000"/>
              </a:spcAft>
              <a:defRPr sz="1300" b="1">
                <a:solidFill>
                  <a:srgbClr val="23785A"/>
                </a:solidFill>
                <a:latin typeface="Noto Sans CJK KR"/>
              </a:defRPr>
            </a:pPr>
            <a:r>
              <a:t>01  발견</a:t>
            </a:r>
          </a:p>
        </p:txBody>
      </p:sp>
      <p:sp>
        <p:nvSpPr>
          <p:cNvPr id="10" name="TextBox 9"/>
          <p:cNvSpPr txBox="1"/>
          <p:nvPr/>
        </p:nvSpPr>
        <p:spPr>
          <a:xfrm>
            <a:off x="804672" y="3136391"/>
            <a:ext cx="3099816" cy="594360"/>
          </a:xfrm>
          <a:prstGeom prst="rect">
            <a:avLst/>
          </a:prstGeom>
          <a:noFill/>
        </p:spPr>
        <p:txBody>
          <a:bodyPr wrap="square">
            <a:spAutoFit/>
          </a:bodyPr>
          <a:lstStyle/>
          <a:p>
            <a:pPr>
              <a:spcAft>
                <a:spcPts val="1000"/>
              </a:spcAft>
              <a:defRPr sz="2200" b="1">
                <a:solidFill>
                  <a:srgbClr val="173C31"/>
                </a:solidFill>
                <a:latin typeface="Noto Sans CJK KR"/>
              </a:defRPr>
            </a:pPr>
            <a:r>
              <a:t>시민이 먼저 발견</a:t>
            </a:r>
          </a:p>
        </p:txBody>
      </p:sp>
      <p:sp>
        <p:nvSpPr>
          <p:cNvPr id="11" name="TextBox 10"/>
          <p:cNvSpPr txBox="1"/>
          <p:nvPr/>
        </p:nvSpPr>
        <p:spPr>
          <a:xfrm>
            <a:off x="804672" y="3813048"/>
            <a:ext cx="3099816" cy="1874519"/>
          </a:xfrm>
          <a:prstGeom prst="rect">
            <a:avLst/>
          </a:prstGeom>
          <a:noFill/>
        </p:spPr>
        <p:txBody>
          <a:bodyPr wrap="square">
            <a:spAutoFit/>
          </a:bodyPr>
          <a:lstStyle/>
          <a:p>
            <a:pPr>
              <a:spcAft>
                <a:spcPts val="1000"/>
              </a:spcAft>
              <a:defRPr sz="1700" b="0">
                <a:solidFill>
                  <a:srgbClr val="62776C"/>
                </a:solidFill>
                <a:latin typeface="Noto Sans CJK KR"/>
              </a:defRPr>
            </a:pPr>
            <a:r>
              <a:t>이상해 보이는 나무를</a:t>
            </a:r>
          </a:p>
          <a:p>
            <a:pPr>
              <a:spcAft>
                <a:spcPts val="1000"/>
              </a:spcAft>
              <a:defRPr sz="1700" b="0">
                <a:solidFill>
                  <a:srgbClr val="62776C"/>
                </a:solidFill>
                <a:latin typeface="Noto Sans CJK KR"/>
              </a:defRPr>
            </a:pPr>
            <a:r>
              <a:t>사진과 위치로 기록</a:t>
            </a:r>
          </a:p>
        </p:txBody>
      </p:sp>
      <p:sp>
        <p:nvSpPr>
          <p:cNvPr id="12" name="Rounded Rectangle 11"/>
          <p:cNvSpPr/>
          <p:nvPr/>
        </p:nvSpPr>
        <p:spPr>
          <a:xfrm>
            <a:off x="4343400" y="2423160"/>
            <a:ext cx="3520440" cy="3337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2606040"/>
            <a:ext cx="3099816" cy="365760"/>
          </a:xfrm>
          <a:prstGeom prst="rect">
            <a:avLst/>
          </a:prstGeom>
          <a:noFill/>
        </p:spPr>
        <p:txBody>
          <a:bodyPr wrap="square">
            <a:spAutoFit/>
          </a:bodyPr>
          <a:lstStyle/>
          <a:p>
            <a:pPr>
              <a:spcAft>
                <a:spcPts val="1000"/>
              </a:spcAft>
              <a:defRPr sz="1300" b="1">
                <a:solidFill>
                  <a:srgbClr val="23785A"/>
                </a:solidFill>
                <a:latin typeface="Noto Sans CJK KR"/>
              </a:defRPr>
            </a:pPr>
            <a:r>
              <a:t>02  확인</a:t>
            </a:r>
          </a:p>
        </p:txBody>
      </p:sp>
      <p:sp>
        <p:nvSpPr>
          <p:cNvPr id="14" name="TextBox 13"/>
          <p:cNvSpPr txBox="1"/>
          <p:nvPr/>
        </p:nvSpPr>
        <p:spPr>
          <a:xfrm>
            <a:off x="4553712" y="3136391"/>
            <a:ext cx="3099816" cy="594360"/>
          </a:xfrm>
          <a:prstGeom prst="rect">
            <a:avLst/>
          </a:prstGeom>
          <a:noFill/>
        </p:spPr>
        <p:txBody>
          <a:bodyPr wrap="square">
            <a:spAutoFit/>
          </a:bodyPr>
          <a:lstStyle/>
          <a:p>
            <a:pPr>
              <a:spcAft>
                <a:spcPts val="1000"/>
              </a:spcAft>
              <a:defRPr sz="2200" b="1">
                <a:solidFill>
                  <a:srgbClr val="173C31"/>
                </a:solidFill>
                <a:latin typeface="Noto Sans CJK KR"/>
              </a:defRPr>
            </a:pPr>
            <a:r>
              <a:t>담당자가 우선 확인</a:t>
            </a:r>
          </a:p>
        </p:txBody>
      </p:sp>
      <p:sp>
        <p:nvSpPr>
          <p:cNvPr id="15" name="TextBox 14"/>
          <p:cNvSpPr txBox="1"/>
          <p:nvPr/>
        </p:nvSpPr>
        <p:spPr>
          <a:xfrm>
            <a:off x="4553712" y="3813048"/>
            <a:ext cx="3099816" cy="1874519"/>
          </a:xfrm>
          <a:prstGeom prst="rect">
            <a:avLst/>
          </a:prstGeom>
          <a:noFill/>
        </p:spPr>
        <p:txBody>
          <a:bodyPr wrap="square">
            <a:spAutoFit/>
          </a:bodyPr>
          <a:lstStyle/>
          <a:p>
            <a:pPr>
              <a:spcAft>
                <a:spcPts val="1000"/>
              </a:spcAft>
              <a:defRPr sz="1700" b="0">
                <a:solidFill>
                  <a:srgbClr val="62776C"/>
                </a:solidFill>
                <a:latin typeface="Noto Sans CJK KR"/>
              </a:defRPr>
            </a:pPr>
            <a:r>
              <a:t>사진·위치·AI 관찰 결과를</a:t>
            </a:r>
          </a:p>
          <a:p>
            <a:pPr>
              <a:spcAft>
                <a:spcPts val="1000"/>
              </a:spcAft>
              <a:defRPr sz="1700" b="0">
                <a:solidFill>
                  <a:srgbClr val="62776C"/>
                </a:solidFill>
                <a:latin typeface="Noto Sans CJK KR"/>
              </a:defRPr>
            </a:pPr>
            <a:r>
              <a:t>함께 보고 대응 순서 검토</a:t>
            </a:r>
          </a:p>
        </p:txBody>
      </p:sp>
      <p:sp>
        <p:nvSpPr>
          <p:cNvPr id="16" name="Rounded Rectangle 15"/>
          <p:cNvSpPr/>
          <p:nvPr/>
        </p:nvSpPr>
        <p:spPr>
          <a:xfrm>
            <a:off x="8092440" y="2423160"/>
            <a:ext cx="3520440" cy="3337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02752" y="2606040"/>
            <a:ext cx="3099816" cy="365760"/>
          </a:xfrm>
          <a:prstGeom prst="rect">
            <a:avLst/>
          </a:prstGeom>
          <a:noFill/>
        </p:spPr>
        <p:txBody>
          <a:bodyPr wrap="square">
            <a:spAutoFit/>
          </a:bodyPr>
          <a:lstStyle/>
          <a:p>
            <a:pPr>
              <a:spcAft>
                <a:spcPts val="1000"/>
              </a:spcAft>
              <a:defRPr sz="1300" b="1">
                <a:solidFill>
                  <a:srgbClr val="23785A"/>
                </a:solidFill>
                <a:latin typeface="Noto Sans CJK KR"/>
              </a:defRPr>
            </a:pPr>
            <a:r>
              <a:t>03  안내</a:t>
            </a:r>
          </a:p>
        </p:txBody>
      </p:sp>
      <p:sp>
        <p:nvSpPr>
          <p:cNvPr id="18" name="TextBox 17"/>
          <p:cNvSpPr txBox="1"/>
          <p:nvPr/>
        </p:nvSpPr>
        <p:spPr>
          <a:xfrm>
            <a:off x="8302752" y="3136391"/>
            <a:ext cx="3099816" cy="594360"/>
          </a:xfrm>
          <a:prstGeom prst="rect">
            <a:avLst/>
          </a:prstGeom>
          <a:noFill/>
        </p:spPr>
        <p:txBody>
          <a:bodyPr wrap="square">
            <a:spAutoFit/>
          </a:bodyPr>
          <a:lstStyle/>
          <a:p>
            <a:pPr>
              <a:spcAft>
                <a:spcPts val="1000"/>
              </a:spcAft>
              <a:defRPr sz="2200" b="1">
                <a:solidFill>
                  <a:srgbClr val="173C31"/>
                </a:solidFill>
                <a:latin typeface="Noto Sans CJK KR"/>
              </a:defRPr>
            </a:pPr>
            <a:r>
              <a:t>진행상황을 다시 시민에게</a:t>
            </a:r>
          </a:p>
        </p:txBody>
      </p:sp>
      <p:sp>
        <p:nvSpPr>
          <p:cNvPr id="19" name="TextBox 18"/>
          <p:cNvSpPr txBox="1"/>
          <p:nvPr/>
        </p:nvSpPr>
        <p:spPr>
          <a:xfrm>
            <a:off x="8302752" y="3813048"/>
            <a:ext cx="3099816" cy="1874519"/>
          </a:xfrm>
          <a:prstGeom prst="rect">
            <a:avLst/>
          </a:prstGeom>
          <a:noFill/>
        </p:spPr>
        <p:txBody>
          <a:bodyPr wrap="square">
            <a:spAutoFit/>
          </a:bodyPr>
          <a:lstStyle/>
          <a:p>
            <a:pPr>
              <a:spcAft>
                <a:spcPts val="1000"/>
              </a:spcAft>
              <a:defRPr sz="1700" b="0">
                <a:solidFill>
                  <a:srgbClr val="62776C"/>
                </a:solidFill>
                <a:latin typeface="Noto Sans CJK KR"/>
              </a:defRPr>
            </a:pPr>
            <a:r>
              <a:t>접수번호로 처리 상태와</a:t>
            </a:r>
          </a:p>
          <a:p>
            <a:pPr>
              <a:spcAft>
                <a:spcPts val="1000"/>
              </a:spcAft>
              <a:defRPr sz="1700" b="0">
                <a:solidFill>
                  <a:srgbClr val="62776C"/>
                </a:solidFill>
                <a:latin typeface="Noto Sans CJK KR"/>
              </a:defRPr>
            </a:pPr>
            <a:r>
              <a:t>담당자 안내 확인</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EF"/>
        </a:solidFill>
        <a:effectLst/>
      </p:bgPr>
    </p:bg>
    <p:spTree>
      <p:nvGrpSpPr>
        <p:cNvPr id="1" name=""/>
        <p:cNvGrpSpPr/>
        <p:nvPr/>
      </p:nvGrpSpPr>
      <p:grpSpPr/>
      <p:sp>
        <p:nvSpPr>
          <p:cNvPr id="2" name="TextBox 1"/>
          <p:cNvSpPr txBox="1"/>
          <p:nvPr/>
        </p:nvSpPr>
        <p:spPr>
          <a:xfrm>
            <a:off x="502920" y="210312"/>
            <a:ext cx="10058400" cy="274320"/>
          </a:xfrm>
          <a:prstGeom prst="rect">
            <a:avLst/>
          </a:prstGeom>
          <a:noFill/>
        </p:spPr>
        <p:txBody>
          <a:bodyPr wrap="square">
            <a:spAutoFit/>
          </a:bodyPr>
          <a:lstStyle/>
          <a:p>
            <a:pPr>
              <a:spcAft>
                <a:spcPts val="1000"/>
              </a:spcAft>
              <a:defRPr sz="1000" b="1">
                <a:solidFill>
                  <a:srgbClr val="23785A"/>
                </a:solidFill>
                <a:latin typeface="Noto Sans CJK KR"/>
              </a:defRPr>
            </a:pPr>
            <a:r>
              <a:t>PINESHIELD   /   시민 참여형 소나무 보호 서비스</a:t>
            </a:r>
          </a:p>
        </p:txBody>
      </p:sp>
      <p:sp>
        <p:nvSpPr>
          <p:cNvPr id="3" name="TextBox 2"/>
          <p:cNvSpPr txBox="1"/>
          <p:nvPr/>
        </p:nvSpPr>
        <p:spPr>
          <a:xfrm>
            <a:off x="548640" y="822960"/>
            <a:ext cx="10972800" cy="685800"/>
          </a:xfrm>
          <a:prstGeom prst="rect">
            <a:avLst/>
          </a:prstGeom>
          <a:noFill/>
        </p:spPr>
        <p:txBody>
          <a:bodyPr wrap="square">
            <a:spAutoFit/>
          </a:bodyPr>
          <a:lstStyle/>
          <a:p>
            <a:pPr>
              <a:spcAft>
                <a:spcPts val="1000"/>
              </a:spcAft>
              <a:defRPr sz="3000" b="1">
                <a:solidFill>
                  <a:srgbClr val="173C31"/>
                </a:solidFill>
                <a:latin typeface="Noto Sans CJK KR"/>
              </a:defRPr>
            </a:pPr>
            <a:r>
              <a:t>PineShield의 전체 이용 흐름</a:t>
            </a:r>
          </a:p>
        </p:txBody>
      </p:sp>
      <p:sp>
        <p:nvSpPr>
          <p:cNvPr id="4" name="TextBox 3"/>
          <p:cNvSpPr txBox="1"/>
          <p:nvPr/>
        </p:nvSpPr>
        <p:spPr>
          <a:xfrm>
            <a:off x="576072" y="1572768"/>
            <a:ext cx="10972800" cy="594360"/>
          </a:xfrm>
          <a:prstGeom prst="rect">
            <a:avLst/>
          </a:prstGeom>
          <a:noFill/>
        </p:spPr>
        <p:txBody>
          <a:bodyPr wrap="square">
            <a:spAutoFit/>
          </a:bodyPr>
          <a:lstStyle/>
          <a:p>
            <a:pPr>
              <a:spcAft>
                <a:spcPts val="1000"/>
              </a:spcAft>
              <a:defRPr sz="1500" b="0">
                <a:solidFill>
                  <a:srgbClr val="62776C"/>
                </a:solidFill>
                <a:latin typeface="Noto Sans CJK KR"/>
              </a:defRPr>
            </a:pPr>
            <a:r>
              <a:t>시민 → AI 관찰 → 담당자 확인 → 시민에게 결과 안내</a:t>
            </a:r>
          </a:p>
        </p:txBody>
      </p:sp>
      <p:sp>
        <p:nvSpPr>
          <p:cNvPr id="5" name="Rectangle 4"/>
          <p:cNvSpPr/>
          <p:nvPr/>
        </p:nvSpPr>
        <p:spPr>
          <a:xfrm>
            <a:off x="548640" y="6382512"/>
            <a:ext cx="11064240" cy="10972"/>
          </a:xfrm>
          <a:prstGeom prst="rect">
            <a:avLst/>
          </a:prstGeom>
          <a:solidFill>
            <a:srgbClr val="DBE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510528"/>
            <a:ext cx="9144000" cy="201168"/>
          </a:xfrm>
          <a:prstGeom prst="rect">
            <a:avLst/>
          </a:prstGeom>
          <a:noFill/>
        </p:spPr>
        <p:txBody>
          <a:bodyPr wrap="square">
            <a:spAutoFit/>
          </a:bodyPr>
          <a:lstStyle/>
          <a:p>
            <a:pPr>
              <a:spcAft>
                <a:spcPts val="1000"/>
              </a:spcAft>
              <a:defRPr sz="900" b="0">
                <a:solidFill>
                  <a:srgbClr val="62776C"/>
                </a:solidFill>
                <a:latin typeface="Noto Sans CJK KR"/>
              </a:defRPr>
            </a:pPr>
            <a:r>
              <a:t>박주호 · 조형준 · 도광민</a:t>
            </a:r>
          </a:p>
        </p:txBody>
      </p:sp>
      <p:sp>
        <p:nvSpPr>
          <p:cNvPr id="7" name="TextBox 6"/>
          <p:cNvSpPr txBox="1"/>
          <p:nvPr/>
        </p:nvSpPr>
        <p:spPr>
          <a:xfrm>
            <a:off x="10972800" y="6473952"/>
            <a:ext cx="640080" cy="274320"/>
          </a:xfrm>
          <a:prstGeom prst="rect">
            <a:avLst/>
          </a:prstGeom>
          <a:noFill/>
        </p:spPr>
        <p:txBody>
          <a:bodyPr wrap="square">
            <a:spAutoFit/>
          </a:bodyPr>
          <a:lstStyle/>
          <a:p>
            <a:pPr>
              <a:spcAft>
                <a:spcPts val="1000"/>
              </a:spcAft>
              <a:defRPr sz="900" b="0">
                <a:solidFill>
                  <a:srgbClr val="62776C"/>
                </a:solidFill>
                <a:latin typeface="Noto Sans CJK KR"/>
              </a:defRPr>
            </a:pPr>
            <a:r>
              <a:t>03 / 13</a:t>
            </a:r>
          </a:p>
        </p:txBody>
      </p:sp>
      <p:sp>
        <p:nvSpPr>
          <p:cNvPr id="8" name="Rounded Rectangle 7"/>
          <p:cNvSpPr/>
          <p:nvPr/>
        </p:nvSpPr>
        <p:spPr>
          <a:xfrm>
            <a:off x="594360" y="2606040"/>
            <a:ext cx="2633472" cy="2468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2788920"/>
            <a:ext cx="2286000" cy="457200"/>
          </a:xfrm>
          <a:prstGeom prst="rect">
            <a:avLst/>
          </a:prstGeom>
          <a:noFill/>
        </p:spPr>
        <p:txBody>
          <a:bodyPr wrap="square">
            <a:spAutoFit/>
          </a:bodyPr>
          <a:lstStyle/>
          <a:p>
            <a:pPr>
              <a:spcAft>
                <a:spcPts val="1000"/>
              </a:spcAft>
              <a:defRPr sz="1800" b="1">
                <a:solidFill>
                  <a:srgbClr val="23785A"/>
                </a:solidFill>
                <a:latin typeface="Noto Sans CJK KR"/>
              </a:defRPr>
            </a:pPr>
            <a:r>
              <a:t>01</a:t>
            </a:r>
          </a:p>
        </p:txBody>
      </p:sp>
      <p:sp>
        <p:nvSpPr>
          <p:cNvPr id="10" name="TextBox 9"/>
          <p:cNvSpPr txBox="1"/>
          <p:nvPr/>
        </p:nvSpPr>
        <p:spPr>
          <a:xfrm>
            <a:off x="758952" y="3474720"/>
            <a:ext cx="2313432" cy="548640"/>
          </a:xfrm>
          <a:prstGeom prst="rect">
            <a:avLst/>
          </a:prstGeom>
          <a:noFill/>
        </p:spPr>
        <p:txBody>
          <a:bodyPr wrap="square">
            <a:spAutoFit/>
          </a:bodyPr>
          <a:lstStyle/>
          <a:p>
            <a:pPr>
              <a:spcAft>
                <a:spcPts val="1000"/>
              </a:spcAft>
              <a:defRPr sz="1900" b="1">
                <a:solidFill>
                  <a:srgbClr val="173C31"/>
                </a:solidFill>
                <a:latin typeface="Noto Sans CJK KR"/>
              </a:defRPr>
            </a:pPr>
            <a:r>
              <a:t>사진·위치 제보</a:t>
            </a:r>
          </a:p>
        </p:txBody>
      </p:sp>
      <p:sp>
        <p:nvSpPr>
          <p:cNvPr id="11" name="TextBox 10"/>
          <p:cNvSpPr txBox="1"/>
          <p:nvPr/>
        </p:nvSpPr>
        <p:spPr>
          <a:xfrm>
            <a:off x="758952" y="4160520"/>
            <a:ext cx="2286000" cy="731520"/>
          </a:xfrm>
          <a:prstGeom prst="rect">
            <a:avLst/>
          </a:prstGeom>
          <a:noFill/>
        </p:spPr>
        <p:txBody>
          <a:bodyPr wrap="square">
            <a:spAutoFit/>
          </a:bodyPr>
          <a:lstStyle/>
          <a:p>
            <a:pPr>
              <a:spcAft>
                <a:spcPts val="1000"/>
              </a:spcAft>
              <a:defRPr sz="1500" b="0">
                <a:solidFill>
                  <a:srgbClr val="62776C"/>
                </a:solidFill>
                <a:latin typeface="Noto Sans CJK KR"/>
              </a:defRPr>
            </a:pPr>
            <a:r>
              <a:t>사진 압축 후 전송·저장</a:t>
            </a:r>
          </a:p>
        </p:txBody>
      </p:sp>
      <p:sp>
        <p:nvSpPr>
          <p:cNvPr id="12" name="TextBox 11"/>
          <p:cNvSpPr txBox="1"/>
          <p:nvPr/>
        </p:nvSpPr>
        <p:spPr>
          <a:xfrm>
            <a:off x="3218688" y="3566160"/>
            <a:ext cx="274320" cy="457200"/>
          </a:xfrm>
          <a:prstGeom prst="rect">
            <a:avLst/>
          </a:prstGeom>
          <a:noFill/>
        </p:spPr>
        <p:txBody>
          <a:bodyPr wrap="square">
            <a:spAutoFit/>
          </a:bodyPr>
          <a:lstStyle/>
          <a:p>
            <a:pPr>
              <a:spcAft>
                <a:spcPts val="1000"/>
              </a:spcAft>
              <a:defRPr sz="2400" b="0">
                <a:solidFill>
                  <a:srgbClr val="23785A"/>
                </a:solidFill>
                <a:latin typeface="Noto Sans CJK KR"/>
              </a:defRPr>
            </a:pPr>
            <a:r>
              <a:t>›</a:t>
            </a:r>
          </a:p>
        </p:txBody>
      </p:sp>
      <p:sp>
        <p:nvSpPr>
          <p:cNvPr id="13" name="Rounded Rectangle 12"/>
          <p:cNvSpPr/>
          <p:nvPr/>
        </p:nvSpPr>
        <p:spPr>
          <a:xfrm>
            <a:off x="3447288" y="2606040"/>
            <a:ext cx="2633472" cy="2468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11880" y="2788920"/>
            <a:ext cx="2286000" cy="457200"/>
          </a:xfrm>
          <a:prstGeom prst="rect">
            <a:avLst/>
          </a:prstGeom>
          <a:noFill/>
        </p:spPr>
        <p:txBody>
          <a:bodyPr wrap="square">
            <a:spAutoFit/>
          </a:bodyPr>
          <a:lstStyle/>
          <a:p>
            <a:pPr>
              <a:spcAft>
                <a:spcPts val="1000"/>
              </a:spcAft>
              <a:defRPr sz="1800" b="1">
                <a:solidFill>
                  <a:srgbClr val="23785A"/>
                </a:solidFill>
                <a:latin typeface="Noto Sans CJK KR"/>
              </a:defRPr>
            </a:pPr>
            <a:r>
              <a:t>02</a:t>
            </a:r>
          </a:p>
        </p:txBody>
      </p:sp>
      <p:sp>
        <p:nvSpPr>
          <p:cNvPr id="15" name="TextBox 14"/>
          <p:cNvSpPr txBox="1"/>
          <p:nvPr/>
        </p:nvSpPr>
        <p:spPr>
          <a:xfrm>
            <a:off x="3611880" y="3474720"/>
            <a:ext cx="2313432" cy="548640"/>
          </a:xfrm>
          <a:prstGeom prst="rect">
            <a:avLst/>
          </a:prstGeom>
          <a:noFill/>
        </p:spPr>
        <p:txBody>
          <a:bodyPr wrap="square">
            <a:spAutoFit/>
          </a:bodyPr>
          <a:lstStyle/>
          <a:p>
            <a:pPr>
              <a:spcAft>
                <a:spcPts val="1000"/>
              </a:spcAft>
              <a:defRPr sz="1900" b="1">
                <a:solidFill>
                  <a:srgbClr val="173C31"/>
                </a:solidFill>
                <a:latin typeface="Noto Sans CJK KR"/>
              </a:defRPr>
            </a:pPr>
            <a:r>
              <a:t>AI 이상 징후 관찰</a:t>
            </a:r>
          </a:p>
        </p:txBody>
      </p:sp>
      <p:sp>
        <p:nvSpPr>
          <p:cNvPr id="16" name="TextBox 15"/>
          <p:cNvSpPr txBox="1"/>
          <p:nvPr/>
        </p:nvSpPr>
        <p:spPr>
          <a:xfrm>
            <a:off x="3611880" y="4160520"/>
            <a:ext cx="2286000" cy="731520"/>
          </a:xfrm>
          <a:prstGeom prst="rect">
            <a:avLst/>
          </a:prstGeom>
          <a:noFill/>
        </p:spPr>
        <p:txBody>
          <a:bodyPr wrap="square">
            <a:spAutoFit/>
          </a:bodyPr>
          <a:lstStyle/>
          <a:p>
            <a:pPr>
              <a:spcAft>
                <a:spcPts val="1000"/>
              </a:spcAft>
              <a:defRPr sz="1500" b="0">
                <a:solidFill>
                  <a:srgbClr val="62776C"/>
                </a:solidFill>
                <a:latin typeface="Noto Sans CJK KR"/>
              </a:defRPr>
            </a:pPr>
            <a:r>
              <a:t>요약 · 심각도 · 판단 근거</a:t>
            </a:r>
          </a:p>
        </p:txBody>
      </p:sp>
      <p:sp>
        <p:nvSpPr>
          <p:cNvPr id="17" name="TextBox 16"/>
          <p:cNvSpPr txBox="1"/>
          <p:nvPr/>
        </p:nvSpPr>
        <p:spPr>
          <a:xfrm>
            <a:off x="6071616" y="3566160"/>
            <a:ext cx="274320" cy="457200"/>
          </a:xfrm>
          <a:prstGeom prst="rect">
            <a:avLst/>
          </a:prstGeom>
          <a:noFill/>
        </p:spPr>
        <p:txBody>
          <a:bodyPr wrap="square">
            <a:spAutoFit/>
          </a:bodyPr>
          <a:lstStyle/>
          <a:p>
            <a:pPr>
              <a:spcAft>
                <a:spcPts val="1000"/>
              </a:spcAft>
              <a:defRPr sz="2400" b="0">
                <a:solidFill>
                  <a:srgbClr val="23785A"/>
                </a:solidFill>
                <a:latin typeface="Noto Sans CJK KR"/>
              </a:defRPr>
            </a:pPr>
            <a:r>
              <a:t>›</a:t>
            </a:r>
          </a:p>
        </p:txBody>
      </p:sp>
      <p:sp>
        <p:nvSpPr>
          <p:cNvPr id="18" name="Rounded Rectangle 17"/>
          <p:cNvSpPr/>
          <p:nvPr/>
        </p:nvSpPr>
        <p:spPr>
          <a:xfrm>
            <a:off x="6300216" y="2606040"/>
            <a:ext cx="2633472" cy="2468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64808" y="2788920"/>
            <a:ext cx="2286000" cy="457200"/>
          </a:xfrm>
          <a:prstGeom prst="rect">
            <a:avLst/>
          </a:prstGeom>
          <a:noFill/>
        </p:spPr>
        <p:txBody>
          <a:bodyPr wrap="square">
            <a:spAutoFit/>
          </a:bodyPr>
          <a:lstStyle/>
          <a:p>
            <a:pPr>
              <a:spcAft>
                <a:spcPts val="1000"/>
              </a:spcAft>
              <a:defRPr sz="1800" b="1">
                <a:solidFill>
                  <a:srgbClr val="23785A"/>
                </a:solidFill>
                <a:latin typeface="Noto Sans CJK KR"/>
              </a:defRPr>
            </a:pPr>
            <a:r>
              <a:t>03</a:t>
            </a:r>
          </a:p>
        </p:txBody>
      </p:sp>
      <p:sp>
        <p:nvSpPr>
          <p:cNvPr id="20" name="TextBox 19"/>
          <p:cNvSpPr txBox="1"/>
          <p:nvPr/>
        </p:nvSpPr>
        <p:spPr>
          <a:xfrm>
            <a:off x="6464808" y="3474720"/>
            <a:ext cx="2313432" cy="548640"/>
          </a:xfrm>
          <a:prstGeom prst="rect">
            <a:avLst/>
          </a:prstGeom>
          <a:noFill/>
        </p:spPr>
        <p:txBody>
          <a:bodyPr wrap="square">
            <a:spAutoFit/>
          </a:bodyPr>
          <a:lstStyle/>
          <a:p>
            <a:pPr>
              <a:spcAft>
                <a:spcPts val="1000"/>
              </a:spcAft>
              <a:defRPr sz="1900" b="1">
                <a:solidFill>
                  <a:srgbClr val="173C31"/>
                </a:solidFill>
                <a:latin typeface="Noto Sans CJK KR"/>
              </a:defRPr>
            </a:pPr>
            <a:r>
              <a:t>담당자 확인·처리</a:t>
            </a:r>
          </a:p>
        </p:txBody>
      </p:sp>
      <p:sp>
        <p:nvSpPr>
          <p:cNvPr id="21" name="TextBox 20"/>
          <p:cNvSpPr txBox="1"/>
          <p:nvPr/>
        </p:nvSpPr>
        <p:spPr>
          <a:xfrm>
            <a:off x="6464808" y="4160520"/>
            <a:ext cx="2286000" cy="731520"/>
          </a:xfrm>
          <a:prstGeom prst="rect">
            <a:avLst/>
          </a:prstGeom>
          <a:noFill/>
        </p:spPr>
        <p:txBody>
          <a:bodyPr wrap="square">
            <a:spAutoFit/>
          </a:bodyPr>
          <a:lstStyle/>
          <a:p>
            <a:pPr>
              <a:spcAft>
                <a:spcPts val="1000"/>
              </a:spcAft>
              <a:defRPr sz="1500" b="0">
                <a:solidFill>
                  <a:srgbClr val="62776C"/>
                </a:solidFill>
                <a:latin typeface="Noto Sans CJK KR"/>
              </a:defRPr>
            </a:pPr>
            <a:r>
              <a:t>상태 변경 · 안내 저장</a:t>
            </a:r>
          </a:p>
        </p:txBody>
      </p:sp>
      <p:sp>
        <p:nvSpPr>
          <p:cNvPr id="22" name="TextBox 21"/>
          <p:cNvSpPr txBox="1"/>
          <p:nvPr/>
        </p:nvSpPr>
        <p:spPr>
          <a:xfrm>
            <a:off x="8924544" y="3566160"/>
            <a:ext cx="274320" cy="457200"/>
          </a:xfrm>
          <a:prstGeom prst="rect">
            <a:avLst/>
          </a:prstGeom>
          <a:noFill/>
        </p:spPr>
        <p:txBody>
          <a:bodyPr wrap="square">
            <a:spAutoFit/>
          </a:bodyPr>
          <a:lstStyle/>
          <a:p>
            <a:pPr>
              <a:spcAft>
                <a:spcPts val="1000"/>
              </a:spcAft>
              <a:defRPr sz="2400" b="0">
                <a:solidFill>
                  <a:srgbClr val="23785A"/>
                </a:solidFill>
                <a:latin typeface="Noto Sans CJK KR"/>
              </a:defRPr>
            </a:pPr>
            <a:r>
              <a:t>›</a:t>
            </a:r>
          </a:p>
        </p:txBody>
      </p:sp>
      <p:sp>
        <p:nvSpPr>
          <p:cNvPr id="23" name="Rounded Rectangle 22"/>
          <p:cNvSpPr/>
          <p:nvPr/>
        </p:nvSpPr>
        <p:spPr>
          <a:xfrm>
            <a:off x="9153144" y="2606040"/>
            <a:ext cx="2633472" cy="2468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17736" y="2788920"/>
            <a:ext cx="2286000" cy="457200"/>
          </a:xfrm>
          <a:prstGeom prst="rect">
            <a:avLst/>
          </a:prstGeom>
          <a:noFill/>
        </p:spPr>
        <p:txBody>
          <a:bodyPr wrap="square">
            <a:spAutoFit/>
          </a:bodyPr>
          <a:lstStyle/>
          <a:p>
            <a:pPr>
              <a:spcAft>
                <a:spcPts val="1000"/>
              </a:spcAft>
              <a:defRPr sz="1800" b="1">
                <a:solidFill>
                  <a:srgbClr val="23785A"/>
                </a:solidFill>
                <a:latin typeface="Noto Sans CJK KR"/>
              </a:defRPr>
            </a:pPr>
            <a:r>
              <a:t>04</a:t>
            </a:r>
          </a:p>
        </p:txBody>
      </p:sp>
      <p:sp>
        <p:nvSpPr>
          <p:cNvPr id="25" name="TextBox 24"/>
          <p:cNvSpPr txBox="1"/>
          <p:nvPr/>
        </p:nvSpPr>
        <p:spPr>
          <a:xfrm>
            <a:off x="9317736" y="3474720"/>
            <a:ext cx="2313432" cy="548640"/>
          </a:xfrm>
          <a:prstGeom prst="rect">
            <a:avLst/>
          </a:prstGeom>
          <a:noFill/>
        </p:spPr>
        <p:txBody>
          <a:bodyPr wrap="square">
            <a:spAutoFit/>
          </a:bodyPr>
          <a:lstStyle/>
          <a:p>
            <a:pPr>
              <a:spcAft>
                <a:spcPts val="1000"/>
              </a:spcAft>
              <a:defRPr sz="1900" b="1">
                <a:solidFill>
                  <a:srgbClr val="173C31"/>
                </a:solidFill>
                <a:latin typeface="Noto Sans CJK KR"/>
              </a:defRPr>
            </a:pPr>
            <a:r>
              <a:t>접수번호로 조회</a:t>
            </a:r>
          </a:p>
        </p:txBody>
      </p:sp>
      <p:sp>
        <p:nvSpPr>
          <p:cNvPr id="26" name="TextBox 25"/>
          <p:cNvSpPr txBox="1"/>
          <p:nvPr/>
        </p:nvSpPr>
        <p:spPr>
          <a:xfrm>
            <a:off x="9317736" y="4160520"/>
            <a:ext cx="2286000" cy="731520"/>
          </a:xfrm>
          <a:prstGeom prst="rect">
            <a:avLst/>
          </a:prstGeom>
          <a:noFill/>
        </p:spPr>
        <p:txBody>
          <a:bodyPr wrap="square">
            <a:spAutoFit/>
          </a:bodyPr>
          <a:lstStyle/>
          <a:p>
            <a:pPr>
              <a:spcAft>
                <a:spcPts val="1000"/>
              </a:spcAft>
              <a:defRPr sz="1500" b="0">
                <a:solidFill>
                  <a:srgbClr val="62776C"/>
                </a:solidFill>
                <a:latin typeface="Noto Sans CJK KR"/>
              </a:defRPr>
            </a:pPr>
            <a:r>
              <a:t>진행상황 · 변경 이력</a:t>
            </a:r>
          </a:p>
        </p:txBody>
      </p:sp>
      <p:sp>
        <p:nvSpPr>
          <p:cNvPr id="27" name="Rounded Rectangle 26"/>
          <p:cNvSpPr/>
          <p:nvPr/>
        </p:nvSpPr>
        <p:spPr>
          <a:xfrm>
            <a:off x="594360" y="5440680"/>
            <a:ext cx="11018520" cy="502920"/>
          </a:xfrm>
          <a:prstGeom prst="roundRect">
            <a:avLst/>
          </a:prstGeom>
          <a:solidFill>
            <a:srgbClr val="17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532120"/>
            <a:ext cx="10515600" cy="320040"/>
          </a:xfrm>
          <a:prstGeom prst="rect">
            <a:avLst/>
          </a:prstGeom>
          <a:noFill/>
        </p:spPr>
        <p:txBody>
          <a:bodyPr wrap="square">
            <a:spAutoFit/>
          </a:bodyPr>
          <a:lstStyle/>
          <a:p>
            <a:pPr>
              <a:spcAft>
                <a:spcPts val="1000"/>
              </a:spcAft>
              <a:defRPr sz="1600" b="0">
                <a:solidFill>
                  <a:srgbClr val="FFFFFF"/>
                </a:solidFill>
                <a:latin typeface="Noto Sans CJK KR"/>
              </a:defRPr>
            </a:pPr>
            <a:r>
              <a:t>지도는 제보 위치와 심각도를 모아 보여주며, 담당자의 확인을 돕습니다.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EF"/>
        </a:solidFill>
        <a:effectLst/>
      </p:bgPr>
    </p:bg>
    <p:spTree>
      <p:nvGrpSpPr>
        <p:cNvPr id="1" name=""/>
        <p:cNvGrpSpPr/>
        <p:nvPr/>
      </p:nvGrpSpPr>
      <p:grpSpPr/>
      <p:sp>
        <p:nvSpPr>
          <p:cNvPr id="2" name="TextBox 1"/>
          <p:cNvSpPr txBox="1"/>
          <p:nvPr/>
        </p:nvSpPr>
        <p:spPr>
          <a:xfrm>
            <a:off x="502920" y="210312"/>
            <a:ext cx="10058400" cy="274320"/>
          </a:xfrm>
          <a:prstGeom prst="rect">
            <a:avLst/>
          </a:prstGeom>
          <a:noFill/>
        </p:spPr>
        <p:txBody>
          <a:bodyPr wrap="square">
            <a:spAutoFit/>
          </a:bodyPr>
          <a:lstStyle/>
          <a:p>
            <a:pPr>
              <a:spcAft>
                <a:spcPts val="1000"/>
              </a:spcAft>
              <a:defRPr sz="1000" b="1">
                <a:solidFill>
                  <a:srgbClr val="23785A"/>
                </a:solidFill>
                <a:latin typeface="Noto Sans CJK KR"/>
              </a:defRPr>
            </a:pPr>
            <a:r>
              <a:t>PINESHIELD   /   시민 참여형 소나무 보호 서비스</a:t>
            </a:r>
          </a:p>
        </p:txBody>
      </p:sp>
      <p:sp>
        <p:nvSpPr>
          <p:cNvPr id="3" name="TextBox 2"/>
          <p:cNvSpPr txBox="1"/>
          <p:nvPr/>
        </p:nvSpPr>
        <p:spPr>
          <a:xfrm>
            <a:off x="548640" y="822960"/>
            <a:ext cx="10972800" cy="685800"/>
          </a:xfrm>
          <a:prstGeom prst="rect">
            <a:avLst/>
          </a:prstGeom>
          <a:noFill/>
        </p:spPr>
        <p:txBody>
          <a:bodyPr wrap="square">
            <a:spAutoFit/>
          </a:bodyPr>
          <a:lstStyle/>
          <a:p>
            <a:pPr>
              <a:spcAft>
                <a:spcPts val="1000"/>
              </a:spcAft>
              <a:defRPr sz="3000" b="1">
                <a:solidFill>
                  <a:srgbClr val="173C31"/>
                </a:solidFill>
                <a:latin typeface="Noto Sans CJK KR"/>
              </a:defRPr>
            </a:pPr>
            <a:r>
              <a:t>사진과 위치로 간편하게 제보</a:t>
            </a:r>
          </a:p>
        </p:txBody>
      </p:sp>
      <p:sp>
        <p:nvSpPr>
          <p:cNvPr id="4" name="TextBox 3"/>
          <p:cNvSpPr txBox="1"/>
          <p:nvPr/>
        </p:nvSpPr>
        <p:spPr>
          <a:xfrm>
            <a:off x="576072" y="1572768"/>
            <a:ext cx="10972800" cy="594360"/>
          </a:xfrm>
          <a:prstGeom prst="rect">
            <a:avLst/>
          </a:prstGeom>
          <a:noFill/>
        </p:spPr>
        <p:txBody>
          <a:bodyPr wrap="square">
            <a:spAutoFit/>
          </a:bodyPr>
          <a:lstStyle/>
          <a:p>
            <a:pPr>
              <a:spcAft>
                <a:spcPts val="1000"/>
              </a:spcAft>
              <a:defRPr sz="1500" b="0">
                <a:solidFill>
                  <a:srgbClr val="62776C"/>
                </a:solidFill>
                <a:latin typeface="Noto Sans CJK KR"/>
              </a:defRPr>
            </a:pPr>
            <a:r>
              <a:t>시민 화면  /  사진 + 발견 위치 + 설명</a:t>
            </a:r>
          </a:p>
        </p:txBody>
      </p:sp>
      <p:sp>
        <p:nvSpPr>
          <p:cNvPr id="5" name="Rectangle 4"/>
          <p:cNvSpPr/>
          <p:nvPr/>
        </p:nvSpPr>
        <p:spPr>
          <a:xfrm>
            <a:off x="548640" y="6382512"/>
            <a:ext cx="11064240" cy="10972"/>
          </a:xfrm>
          <a:prstGeom prst="rect">
            <a:avLst/>
          </a:prstGeom>
          <a:solidFill>
            <a:srgbClr val="DBE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510528"/>
            <a:ext cx="9144000" cy="201168"/>
          </a:xfrm>
          <a:prstGeom prst="rect">
            <a:avLst/>
          </a:prstGeom>
          <a:noFill/>
        </p:spPr>
        <p:txBody>
          <a:bodyPr wrap="square">
            <a:spAutoFit/>
          </a:bodyPr>
          <a:lstStyle/>
          <a:p>
            <a:pPr>
              <a:spcAft>
                <a:spcPts val="1000"/>
              </a:spcAft>
              <a:defRPr sz="900" b="0">
                <a:solidFill>
                  <a:srgbClr val="62776C"/>
                </a:solidFill>
                <a:latin typeface="Noto Sans CJK KR"/>
              </a:defRPr>
            </a:pPr>
            <a:r>
              <a:t>박주호 · 조형준 · 도광민</a:t>
            </a:r>
          </a:p>
        </p:txBody>
      </p:sp>
      <p:sp>
        <p:nvSpPr>
          <p:cNvPr id="7" name="TextBox 6"/>
          <p:cNvSpPr txBox="1"/>
          <p:nvPr/>
        </p:nvSpPr>
        <p:spPr>
          <a:xfrm>
            <a:off x="10972800" y="6473952"/>
            <a:ext cx="640080" cy="274320"/>
          </a:xfrm>
          <a:prstGeom prst="rect">
            <a:avLst/>
          </a:prstGeom>
          <a:noFill/>
        </p:spPr>
        <p:txBody>
          <a:bodyPr wrap="square">
            <a:spAutoFit/>
          </a:bodyPr>
          <a:lstStyle/>
          <a:p>
            <a:pPr>
              <a:spcAft>
                <a:spcPts val="1000"/>
              </a:spcAft>
              <a:defRPr sz="900" b="0">
                <a:solidFill>
                  <a:srgbClr val="62776C"/>
                </a:solidFill>
                <a:latin typeface="Noto Sans CJK KR"/>
              </a:defRPr>
            </a:pPr>
            <a:r>
              <a:t>04 / 13</a:t>
            </a:r>
          </a:p>
        </p:txBody>
      </p:sp>
      <p:sp>
        <p:nvSpPr>
          <p:cNvPr id="8" name="Rounded Rectangle 7"/>
          <p:cNvSpPr/>
          <p:nvPr/>
        </p:nvSpPr>
        <p:spPr>
          <a:xfrm>
            <a:off x="594360" y="2423160"/>
            <a:ext cx="5349240" cy="3429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606040"/>
            <a:ext cx="4928616" cy="365760"/>
          </a:xfrm>
          <a:prstGeom prst="rect">
            <a:avLst/>
          </a:prstGeom>
          <a:noFill/>
        </p:spPr>
        <p:txBody>
          <a:bodyPr wrap="square">
            <a:spAutoFit/>
          </a:bodyPr>
          <a:lstStyle/>
          <a:p>
            <a:pPr>
              <a:spcAft>
                <a:spcPts val="1000"/>
              </a:spcAft>
              <a:defRPr sz="1300" b="1">
                <a:solidFill>
                  <a:srgbClr val="23785A"/>
                </a:solidFill>
                <a:latin typeface="Noto Sans CJK KR"/>
              </a:defRPr>
            </a:pPr>
            <a:r>
              <a:t>PHOTO</a:t>
            </a:r>
          </a:p>
        </p:txBody>
      </p:sp>
      <p:sp>
        <p:nvSpPr>
          <p:cNvPr id="10" name="TextBox 9"/>
          <p:cNvSpPr txBox="1"/>
          <p:nvPr/>
        </p:nvSpPr>
        <p:spPr>
          <a:xfrm>
            <a:off x="804672" y="3136391"/>
            <a:ext cx="4928616" cy="594360"/>
          </a:xfrm>
          <a:prstGeom prst="rect">
            <a:avLst/>
          </a:prstGeom>
          <a:noFill/>
        </p:spPr>
        <p:txBody>
          <a:bodyPr wrap="square">
            <a:spAutoFit/>
          </a:bodyPr>
          <a:lstStyle/>
          <a:p>
            <a:pPr>
              <a:spcAft>
                <a:spcPts val="1000"/>
              </a:spcAft>
              <a:defRPr sz="2200" b="1">
                <a:solidFill>
                  <a:srgbClr val="173C31"/>
                </a:solidFill>
                <a:latin typeface="Noto Sans CJK KR"/>
              </a:defRPr>
            </a:pPr>
            <a:r>
              <a:t>나무 사진과 설명 등록</a:t>
            </a:r>
          </a:p>
        </p:txBody>
      </p:sp>
      <p:sp>
        <p:nvSpPr>
          <p:cNvPr id="11" name="TextBox 10"/>
          <p:cNvSpPr txBox="1"/>
          <p:nvPr/>
        </p:nvSpPr>
        <p:spPr>
          <a:xfrm>
            <a:off x="804672" y="3813048"/>
            <a:ext cx="4928616" cy="1965960"/>
          </a:xfrm>
          <a:prstGeom prst="rect">
            <a:avLst/>
          </a:prstGeom>
          <a:noFill/>
        </p:spPr>
        <p:txBody>
          <a:bodyPr wrap="square">
            <a:spAutoFit/>
          </a:bodyPr>
          <a:lstStyle/>
          <a:p>
            <a:pPr>
              <a:spcAft>
                <a:spcPts val="1000"/>
              </a:spcAft>
              <a:defRPr sz="1700" b="0">
                <a:solidFill>
                  <a:srgbClr val="62776C"/>
                </a:solidFill>
                <a:latin typeface="Noto Sans CJK KR"/>
              </a:defRPr>
            </a:pPr>
            <a:r>
              <a:t>이상해 보이는 나무를 촬영해 등록</a:t>
            </a:r>
          </a:p>
          <a:p>
            <a:pPr>
              <a:spcAft>
                <a:spcPts val="1000"/>
              </a:spcAft>
              <a:defRPr sz="1700" b="0">
                <a:solidFill>
                  <a:srgbClr val="62776C"/>
                </a:solidFill>
                <a:latin typeface="Noto Sans CJK KR"/>
              </a:defRPr>
            </a:pPr>
            <a:r>
              <a:t>사진은 자동으로 압축해 전송·저장</a:t>
            </a:r>
          </a:p>
          <a:p>
            <a:pPr>
              <a:spcAft>
                <a:spcPts val="1000"/>
              </a:spcAft>
              <a:defRPr sz="1700" b="0">
                <a:solidFill>
                  <a:srgbClr val="62776C"/>
                </a:solidFill>
                <a:latin typeface="Noto Sans CJK KR"/>
              </a:defRPr>
            </a:pPr>
            <a:r>
              <a:t>발견 당시 상황을 설명으로 보완</a:t>
            </a:r>
          </a:p>
        </p:txBody>
      </p:sp>
      <p:sp>
        <p:nvSpPr>
          <p:cNvPr id="12" name="Rounded Rectangle 11"/>
          <p:cNvSpPr/>
          <p:nvPr/>
        </p:nvSpPr>
        <p:spPr>
          <a:xfrm>
            <a:off x="6172200" y="2423160"/>
            <a:ext cx="5440680" cy="3429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2512" y="2606040"/>
            <a:ext cx="5020056" cy="365760"/>
          </a:xfrm>
          <a:prstGeom prst="rect">
            <a:avLst/>
          </a:prstGeom>
          <a:noFill/>
        </p:spPr>
        <p:txBody>
          <a:bodyPr wrap="square">
            <a:spAutoFit/>
          </a:bodyPr>
          <a:lstStyle/>
          <a:p>
            <a:pPr>
              <a:spcAft>
                <a:spcPts val="1000"/>
              </a:spcAft>
              <a:defRPr sz="1300" b="1">
                <a:solidFill>
                  <a:srgbClr val="23785A"/>
                </a:solidFill>
                <a:latin typeface="Noto Sans CJK KR"/>
              </a:defRPr>
            </a:pPr>
            <a:r>
              <a:t>LOCATION</a:t>
            </a:r>
          </a:p>
        </p:txBody>
      </p:sp>
      <p:sp>
        <p:nvSpPr>
          <p:cNvPr id="14" name="TextBox 13"/>
          <p:cNvSpPr txBox="1"/>
          <p:nvPr/>
        </p:nvSpPr>
        <p:spPr>
          <a:xfrm>
            <a:off x="6382512" y="3136391"/>
            <a:ext cx="5020056" cy="594360"/>
          </a:xfrm>
          <a:prstGeom prst="rect">
            <a:avLst/>
          </a:prstGeom>
          <a:noFill/>
        </p:spPr>
        <p:txBody>
          <a:bodyPr wrap="square">
            <a:spAutoFit/>
          </a:bodyPr>
          <a:lstStyle/>
          <a:p>
            <a:pPr>
              <a:spcAft>
                <a:spcPts val="1000"/>
              </a:spcAft>
              <a:defRPr sz="2200" b="1">
                <a:solidFill>
                  <a:srgbClr val="173C31"/>
                </a:solidFill>
                <a:latin typeface="Noto Sans CJK KR"/>
              </a:defRPr>
            </a:pPr>
            <a:r>
              <a:t>정확한 발견 위치 선택</a:t>
            </a:r>
          </a:p>
        </p:txBody>
      </p:sp>
      <p:sp>
        <p:nvSpPr>
          <p:cNvPr id="15" name="TextBox 14"/>
          <p:cNvSpPr txBox="1"/>
          <p:nvPr/>
        </p:nvSpPr>
        <p:spPr>
          <a:xfrm>
            <a:off x="6382512" y="3813048"/>
            <a:ext cx="5020056" cy="1965960"/>
          </a:xfrm>
          <a:prstGeom prst="rect">
            <a:avLst/>
          </a:prstGeom>
          <a:noFill/>
        </p:spPr>
        <p:txBody>
          <a:bodyPr wrap="square">
            <a:spAutoFit/>
          </a:bodyPr>
          <a:lstStyle/>
          <a:p>
            <a:pPr>
              <a:spcAft>
                <a:spcPts val="1000"/>
              </a:spcAft>
              <a:defRPr sz="1700" b="0">
                <a:solidFill>
                  <a:srgbClr val="62776C"/>
                </a:solidFill>
                <a:latin typeface="Noto Sans CJK KR"/>
              </a:defRPr>
            </a:pPr>
            <a:r>
              <a:t>위치 권한 허용 시 현재 위치 표시</a:t>
            </a:r>
          </a:p>
          <a:p>
            <a:pPr>
              <a:spcAft>
                <a:spcPts val="1000"/>
              </a:spcAft>
              <a:defRPr sz="1700" b="0">
                <a:solidFill>
                  <a:srgbClr val="62776C"/>
                </a:solidFill>
                <a:latin typeface="Noto Sans CJK KR"/>
              </a:defRPr>
            </a:pPr>
            <a:r>
              <a:t>핀을 이동해 실제 나무 위치로 수정</a:t>
            </a:r>
          </a:p>
          <a:p>
            <a:pPr>
              <a:spcAft>
                <a:spcPts val="1000"/>
              </a:spcAft>
              <a:defRPr sz="1700" b="0">
                <a:solidFill>
                  <a:srgbClr val="62776C"/>
                </a:solidFill>
                <a:latin typeface="Noto Sans CJK KR"/>
              </a:defRPr>
            </a:pPr>
            <a:r>
              <a:t>위치 수집이 어려우면 지도에서 직접 선택</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EF"/>
        </a:solidFill>
        <a:effectLst/>
      </p:bgPr>
    </p:bg>
    <p:spTree>
      <p:nvGrpSpPr>
        <p:cNvPr id="1" name=""/>
        <p:cNvGrpSpPr/>
        <p:nvPr/>
      </p:nvGrpSpPr>
      <p:grpSpPr/>
      <p:sp>
        <p:nvSpPr>
          <p:cNvPr id="2" name="TextBox 1"/>
          <p:cNvSpPr txBox="1"/>
          <p:nvPr/>
        </p:nvSpPr>
        <p:spPr>
          <a:xfrm>
            <a:off x="502920" y="210312"/>
            <a:ext cx="10058400" cy="274320"/>
          </a:xfrm>
          <a:prstGeom prst="rect">
            <a:avLst/>
          </a:prstGeom>
          <a:noFill/>
        </p:spPr>
        <p:txBody>
          <a:bodyPr wrap="square">
            <a:spAutoFit/>
          </a:bodyPr>
          <a:lstStyle/>
          <a:p>
            <a:pPr>
              <a:spcAft>
                <a:spcPts val="1000"/>
              </a:spcAft>
              <a:defRPr sz="1000" b="1">
                <a:solidFill>
                  <a:srgbClr val="23785A"/>
                </a:solidFill>
                <a:latin typeface="Noto Sans CJK KR"/>
              </a:defRPr>
            </a:pPr>
            <a:r>
              <a:t>PINESHIELD   /   시민 참여형 소나무 보호 서비스</a:t>
            </a:r>
          </a:p>
        </p:txBody>
      </p:sp>
      <p:sp>
        <p:nvSpPr>
          <p:cNvPr id="3" name="TextBox 2"/>
          <p:cNvSpPr txBox="1"/>
          <p:nvPr/>
        </p:nvSpPr>
        <p:spPr>
          <a:xfrm>
            <a:off x="548640" y="822960"/>
            <a:ext cx="10972800" cy="685800"/>
          </a:xfrm>
          <a:prstGeom prst="rect">
            <a:avLst/>
          </a:prstGeom>
          <a:noFill/>
        </p:spPr>
        <p:txBody>
          <a:bodyPr wrap="square">
            <a:spAutoFit/>
          </a:bodyPr>
          <a:lstStyle/>
          <a:p>
            <a:pPr>
              <a:spcAft>
                <a:spcPts val="1000"/>
              </a:spcAft>
              <a:defRPr sz="3000" b="1">
                <a:solidFill>
                  <a:srgbClr val="173C31"/>
                </a:solidFill>
                <a:latin typeface="Noto Sans CJK KR"/>
              </a:defRPr>
            </a:pPr>
            <a:r>
              <a:t>AI는 사진에서 보이는 이상 징후를 정리합니다</a:t>
            </a:r>
          </a:p>
        </p:txBody>
      </p:sp>
      <p:sp>
        <p:nvSpPr>
          <p:cNvPr id="4" name="TextBox 3"/>
          <p:cNvSpPr txBox="1"/>
          <p:nvPr/>
        </p:nvSpPr>
        <p:spPr>
          <a:xfrm>
            <a:off x="576072" y="1572768"/>
            <a:ext cx="10972800" cy="594360"/>
          </a:xfrm>
          <a:prstGeom prst="rect">
            <a:avLst/>
          </a:prstGeom>
          <a:noFill/>
        </p:spPr>
        <p:txBody>
          <a:bodyPr wrap="square">
            <a:spAutoFit/>
          </a:bodyPr>
          <a:lstStyle/>
          <a:p>
            <a:pPr>
              <a:spcAft>
                <a:spcPts val="1000"/>
              </a:spcAft>
              <a:defRPr sz="1500" b="0">
                <a:solidFill>
                  <a:srgbClr val="62776C"/>
                </a:solidFill>
                <a:latin typeface="Noto Sans CJK KR"/>
              </a:defRPr>
            </a:pPr>
            <a:r>
              <a:t>사진 분석  /  Vercel AI Gateway를 통한 GPT-4o-mini 이미지 분석</a:t>
            </a:r>
          </a:p>
        </p:txBody>
      </p:sp>
      <p:sp>
        <p:nvSpPr>
          <p:cNvPr id="5" name="Rectangle 4"/>
          <p:cNvSpPr/>
          <p:nvPr/>
        </p:nvSpPr>
        <p:spPr>
          <a:xfrm>
            <a:off x="548640" y="6382512"/>
            <a:ext cx="11064240" cy="10972"/>
          </a:xfrm>
          <a:prstGeom prst="rect">
            <a:avLst/>
          </a:prstGeom>
          <a:solidFill>
            <a:srgbClr val="DBE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510528"/>
            <a:ext cx="9144000" cy="201168"/>
          </a:xfrm>
          <a:prstGeom prst="rect">
            <a:avLst/>
          </a:prstGeom>
          <a:noFill/>
        </p:spPr>
        <p:txBody>
          <a:bodyPr wrap="square">
            <a:spAutoFit/>
          </a:bodyPr>
          <a:lstStyle/>
          <a:p>
            <a:pPr>
              <a:spcAft>
                <a:spcPts val="1000"/>
              </a:spcAft>
              <a:defRPr sz="900" b="0">
                <a:solidFill>
                  <a:srgbClr val="62776C"/>
                </a:solidFill>
                <a:latin typeface="Noto Sans CJK KR"/>
              </a:defRPr>
            </a:pPr>
            <a:r>
              <a:t>박주호 · 조형준 · 도광민</a:t>
            </a:r>
          </a:p>
        </p:txBody>
      </p:sp>
      <p:sp>
        <p:nvSpPr>
          <p:cNvPr id="7" name="TextBox 6"/>
          <p:cNvSpPr txBox="1"/>
          <p:nvPr/>
        </p:nvSpPr>
        <p:spPr>
          <a:xfrm>
            <a:off x="10972800" y="6473952"/>
            <a:ext cx="640080" cy="274320"/>
          </a:xfrm>
          <a:prstGeom prst="rect">
            <a:avLst/>
          </a:prstGeom>
          <a:noFill/>
        </p:spPr>
        <p:txBody>
          <a:bodyPr wrap="square">
            <a:spAutoFit/>
          </a:bodyPr>
          <a:lstStyle/>
          <a:p>
            <a:pPr>
              <a:spcAft>
                <a:spcPts val="1000"/>
              </a:spcAft>
              <a:defRPr sz="900" b="0">
                <a:solidFill>
                  <a:srgbClr val="62776C"/>
                </a:solidFill>
                <a:latin typeface="Noto Sans CJK KR"/>
              </a:defRPr>
            </a:pPr>
            <a:r>
              <a:t>05 / 13</a:t>
            </a:r>
          </a:p>
        </p:txBody>
      </p:sp>
      <p:sp>
        <p:nvSpPr>
          <p:cNvPr id="8" name="Rounded Rectangle 7"/>
          <p:cNvSpPr/>
          <p:nvPr/>
        </p:nvSpPr>
        <p:spPr>
          <a:xfrm>
            <a:off x="594360" y="2423160"/>
            <a:ext cx="6583680" cy="3474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697480"/>
            <a:ext cx="6035040" cy="457200"/>
          </a:xfrm>
          <a:prstGeom prst="rect">
            <a:avLst/>
          </a:prstGeom>
          <a:noFill/>
        </p:spPr>
        <p:txBody>
          <a:bodyPr wrap="square">
            <a:spAutoFit/>
          </a:bodyPr>
          <a:lstStyle/>
          <a:p>
            <a:pPr>
              <a:spcAft>
                <a:spcPts val="1000"/>
              </a:spcAft>
              <a:defRPr sz="2300" b="1">
                <a:solidFill>
                  <a:srgbClr val="173C31"/>
                </a:solidFill>
                <a:latin typeface="Noto Sans CJK KR"/>
              </a:defRPr>
            </a:pPr>
            <a:r>
              <a:t>관찰 결과의 구성</a:t>
            </a:r>
          </a:p>
        </p:txBody>
      </p:sp>
      <p:sp>
        <p:nvSpPr>
          <p:cNvPr id="10" name="TextBox 9"/>
          <p:cNvSpPr txBox="1"/>
          <p:nvPr/>
        </p:nvSpPr>
        <p:spPr>
          <a:xfrm>
            <a:off x="868680" y="3474720"/>
            <a:ext cx="5989320" cy="2148840"/>
          </a:xfrm>
          <a:prstGeom prst="rect">
            <a:avLst/>
          </a:prstGeom>
          <a:noFill/>
        </p:spPr>
        <p:txBody>
          <a:bodyPr wrap="square">
            <a:spAutoFit/>
          </a:bodyPr>
          <a:lstStyle/>
          <a:p>
            <a:pPr>
              <a:spcAft>
                <a:spcPts val="1000"/>
              </a:spcAft>
              <a:defRPr sz="2000" b="0">
                <a:solidFill>
                  <a:srgbClr val="62776C"/>
                </a:solidFill>
                <a:latin typeface="Noto Sans CJK KR"/>
              </a:defRPr>
            </a:pPr>
            <a:r>
              <a:t>관찰  갈변·마름 등 눈에 보이는 이상 징후</a:t>
            </a:r>
          </a:p>
          <a:p>
            <a:pPr>
              <a:spcAft>
                <a:spcPts val="1000"/>
              </a:spcAft>
              <a:defRPr sz="2000" b="0">
                <a:solidFill>
                  <a:srgbClr val="62776C"/>
                </a:solidFill>
                <a:latin typeface="Noto Sans CJK KR"/>
              </a:defRPr>
            </a:pPr>
            <a:r>
              <a:t>요약  사진에 드러난 나무 상태</a:t>
            </a:r>
          </a:p>
          <a:p>
            <a:pPr>
              <a:spcAft>
                <a:spcPts val="1000"/>
              </a:spcAft>
              <a:defRPr sz="2000" b="0">
                <a:solidFill>
                  <a:srgbClr val="62776C"/>
                </a:solidFill>
                <a:latin typeface="Noto Sans CJK KR"/>
              </a:defRPr>
            </a:pPr>
            <a:r>
              <a:t>근거  심각도 판단에 참고한 시각적 특징</a:t>
            </a:r>
          </a:p>
        </p:txBody>
      </p:sp>
      <p:sp>
        <p:nvSpPr>
          <p:cNvPr id="11" name="Rounded Rectangle 10"/>
          <p:cNvSpPr/>
          <p:nvPr/>
        </p:nvSpPr>
        <p:spPr>
          <a:xfrm>
            <a:off x="7498079" y="2423160"/>
            <a:ext cx="4114800" cy="557784"/>
          </a:xfrm>
          <a:prstGeom prst="roundRect">
            <a:avLst/>
          </a:prstGeom>
          <a:solidFill>
            <a:srgbClr val="237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2496312"/>
            <a:ext cx="3657600" cy="365760"/>
          </a:xfrm>
          <a:prstGeom prst="rect">
            <a:avLst/>
          </a:prstGeom>
          <a:noFill/>
        </p:spPr>
        <p:txBody>
          <a:bodyPr wrap="square">
            <a:spAutoFit/>
          </a:bodyPr>
          <a:lstStyle/>
          <a:p>
            <a:pPr>
              <a:spcAft>
                <a:spcPts val="1000"/>
              </a:spcAft>
              <a:defRPr sz="1800" b="1">
                <a:solidFill>
                  <a:srgbClr val="FFFFFF"/>
                </a:solidFill>
                <a:latin typeface="Noto Sans CJK KR"/>
              </a:defRPr>
            </a:pPr>
            <a:r>
              <a:t>낮음</a:t>
            </a:r>
          </a:p>
        </p:txBody>
      </p:sp>
      <p:sp>
        <p:nvSpPr>
          <p:cNvPr id="13" name="Rounded Rectangle 12"/>
          <p:cNvSpPr/>
          <p:nvPr/>
        </p:nvSpPr>
        <p:spPr>
          <a:xfrm>
            <a:off x="7498079" y="3118104"/>
            <a:ext cx="4114800" cy="557784"/>
          </a:xfrm>
          <a:prstGeom prst="roundRect">
            <a:avLst/>
          </a:prstGeom>
          <a:solidFill>
            <a:srgbClr val="C390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26679" y="3191256"/>
            <a:ext cx="3657600" cy="365760"/>
          </a:xfrm>
          <a:prstGeom prst="rect">
            <a:avLst/>
          </a:prstGeom>
          <a:noFill/>
        </p:spPr>
        <p:txBody>
          <a:bodyPr wrap="square">
            <a:spAutoFit/>
          </a:bodyPr>
          <a:lstStyle/>
          <a:p>
            <a:pPr>
              <a:spcAft>
                <a:spcPts val="1000"/>
              </a:spcAft>
              <a:defRPr sz="1800" b="1">
                <a:solidFill>
                  <a:srgbClr val="FFFFFF"/>
                </a:solidFill>
                <a:latin typeface="Noto Sans CJK KR"/>
              </a:defRPr>
            </a:pPr>
            <a:r>
              <a:t>보통</a:t>
            </a:r>
          </a:p>
        </p:txBody>
      </p:sp>
      <p:sp>
        <p:nvSpPr>
          <p:cNvPr id="15" name="Rounded Rectangle 14"/>
          <p:cNvSpPr/>
          <p:nvPr/>
        </p:nvSpPr>
        <p:spPr>
          <a:xfrm>
            <a:off x="7498079" y="3813048"/>
            <a:ext cx="4114800" cy="557784"/>
          </a:xfrm>
          <a:prstGeom prst="roundRect">
            <a:avLst/>
          </a:prstGeom>
          <a:solidFill>
            <a:srgbClr val="B553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26679" y="3886200"/>
            <a:ext cx="3657600" cy="365760"/>
          </a:xfrm>
          <a:prstGeom prst="rect">
            <a:avLst/>
          </a:prstGeom>
          <a:noFill/>
        </p:spPr>
        <p:txBody>
          <a:bodyPr wrap="square">
            <a:spAutoFit/>
          </a:bodyPr>
          <a:lstStyle/>
          <a:p>
            <a:pPr>
              <a:spcAft>
                <a:spcPts val="1000"/>
              </a:spcAft>
              <a:defRPr sz="1800" b="1">
                <a:solidFill>
                  <a:srgbClr val="FFFFFF"/>
                </a:solidFill>
                <a:latin typeface="Noto Sans CJK KR"/>
              </a:defRPr>
            </a:pPr>
            <a:r>
              <a:t>높음</a:t>
            </a:r>
          </a:p>
        </p:txBody>
      </p:sp>
      <p:sp>
        <p:nvSpPr>
          <p:cNvPr id="17" name="Rounded Rectangle 16"/>
          <p:cNvSpPr/>
          <p:nvPr/>
        </p:nvSpPr>
        <p:spPr>
          <a:xfrm>
            <a:off x="7498079" y="4507992"/>
            <a:ext cx="4114800" cy="557784"/>
          </a:xfrm>
          <a:prstGeom prst="roundRect">
            <a:avLst/>
          </a:prstGeom>
          <a:solidFill>
            <a:srgbClr val="7180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26679" y="4581144"/>
            <a:ext cx="3657600" cy="365760"/>
          </a:xfrm>
          <a:prstGeom prst="rect">
            <a:avLst/>
          </a:prstGeom>
          <a:noFill/>
        </p:spPr>
        <p:txBody>
          <a:bodyPr wrap="square">
            <a:spAutoFit/>
          </a:bodyPr>
          <a:lstStyle/>
          <a:p>
            <a:pPr>
              <a:spcAft>
                <a:spcPts val="1000"/>
              </a:spcAft>
              <a:defRPr sz="1800" b="1">
                <a:solidFill>
                  <a:srgbClr val="FFFFFF"/>
                </a:solidFill>
                <a:latin typeface="Noto Sans CJK KR"/>
              </a:defRPr>
            </a:pPr>
            <a:r>
              <a:t>판단 보류</a:t>
            </a:r>
          </a:p>
        </p:txBody>
      </p:sp>
      <p:sp>
        <p:nvSpPr>
          <p:cNvPr id="19" name="TextBox 18"/>
          <p:cNvSpPr txBox="1"/>
          <p:nvPr/>
        </p:nvSpPr>
        <p:spPr>
          <a:xfrm>
            <a:off x="7543800" y="5394960"/>
            <a:ext cx="4023360" cy="640080"/>
          </a:xfrm>
          <a:prstGeom prst="rect">
            <a:avLst/>
          </a:prstGeom>
          <a:noFill/>
        </p:spPr>
        <p:txBody>
          <a:bodyPr wrap="square">
            <a:spAutoFit/>
          </a:bodyPr>
          <a:lstStyle/>
          <a:p>
            <a:pPr>
              <a:spcAft>
                <a:spcPts val="1000"/>
              </a:spcAft>
              <a:defRPr sz="1600" b="1">
                <a:solidFill>
                  <a:srgbClr val="173C31"/>
                </a:solidFill>
                <a:latin typeface="Noto Sans CJK KR"/>
              </a:defRPr>
            </a:pPr>
            <a:r>
              <a:t>사진만으로 재선충병을</a:t>
            </a:r>
          </a:p>
          <a:p>
            <a:pPr>
              <a:spcAft>
                <a:spcPts val="1000"/>
              </a:spcAft>
              <a:defRPr sz="1600" b="1">
                <a:solidFill>
                  <a:srgbClr val="173C31"/>
                </a:solidFill>
                <a:latin typeface="Noto Sans CJK KR"/>
              </a:defRPr>
            </a:pPr>
            <a:r>
              <a:t>확진하는 기능이 아닙니다.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EF"/>
        </a:solidFill>
        <a:effectLst/>
      </p:bgPr>
    </p:bg>
    <p:spTree>
      <p:nvGrpSpPr>
        <p:cNvPr id="1" name=""/>
        <p:cNvGrpSpPr/>
        <p:nvPr/>
      </p:nvGrpSpPr>
      <p:grpSpPr/>
      <p:sp>
        <p:nvSpPr>
          <p:cNvPr id="2" name="TextBox 1"/>
          <p:cNvSpPr txBox="1"/>
          <p:nvPr/>
        </p:nvSpPr>
        <p:spPr>
          <a:xfrm>
            <a:off x="502920" y="210312"/>
            <a:ext cx="10058400" cy="274320"/>
          </a:xfrm>
          <a:prstGeom prst="rect">
            <a:avLst/>
          </a:prstGeom>
          <a:noFill/>
        </p:spPr>
        <p:txBody>
          <a:bodyPr wrap="square">
            <a:spAutoFit/>
          </a:bodyPr>
          <a:lstStyle/>
          <a:p>
            <a:pPr>
              <a:spcAft>
                <a:spcPts val="1000"/>
              </a:spcAft>
              <a:defRPr sz="1000" b="1">
                <a:solidFill>
                  <a:srgbClr val="23785A"/>
                </a:solidFill>
                <a:latin typeface="Noto Sans CJK KR"/>
              </a:defRPr>
            </a:pPr>
            <a:r>
              <a:t>PINESHIELD   /   시민 참여형 소나무 보호 서비스</a:t>
            </a:r>
          </a:p>
        </p:txBody>
      </p:sp>
      <p:sp>
        <p:nvSpPr>
          <p:cNvPr id="3" name="TextBox 2"/>
          <p:cNvSpPr txBox="1"/>
          <p:nvPr/>
        </p:nvSpPr>
        <p:spPr>
          <a:xfrm>
            <a:off x="548640" y="822960"/>
            <a:ext cx="10972800" cy="685800"/>
          </a:xfrm>
          <a:prstGeom prst="rect">
            <a:avLst/>
          </a:prstGeom>
          <a:noFill/>
        </p:spPr>
        <p:txBody>
          <a:bodyPr wrap="square">
            <a:spAutoFit/>
          </a:bodyPr>
          <a:lstStyle/>
          <a:p>
            <a:pPr>
              <a:spcAft>
                <a:spcPts val="1000"/>
              </a:spcAft>
              <a:defRPr sz="3000" b="1">
                <a:solidFill>
                  <a:srgbClr val="173C31"/>
                </a:solidFill>
                <a:latin typeface="Noto Sans CJK KR"/>
              </a:defRPr>
            </a:pPr>
            <a:r>
              <a:t>5자리 접수번호로 진행상황을 확인합니다</a:t>
            </a:r>
          </a:p>
        </p:txBody>
      </p:sp>
      <p:sp>
        <p:nvSpPr>
          <p:cNvPr id="4" name="TextBox 3"/>
          <p:cNvSpPr txBox="1"/>
          <p:nvPr/>
        </p:nvSpPr>
        <p:spPr>
          <a:xfrm>
            <a:off x="576072" y="1572768"/>
            <a:ext cx="10972800" cy="594360"/>
          </a:xfrm>
          <a:prstGeom prst="rect">
            <a:avLst/>
          </a:prstGeom>
          <a:noFill/>
        </p:spPr>
        <p:txBody>
          <a:bodyPr wrap="square">
            <a:spAutoFit/>
          </a:bodyPr>
          <a:lstStyle/>
          <a:p>
            <a:pPr>
              <a:spcAft>
                <a:spcPts val="1000"/>
              </a:spcAft>
              <a:defRPr sz="1500" b="0">
                <a:solidFill>
                  <a:srgbClr val="62776C"/>
                </a:solidFill>
                <a:latin typeface="Noto Sans CJK KR"/>
              </a:defRPr>
            </a:pPr>
            <a:r>
              <a:t>시민 화면  /  영문·숫자 혼합 접수번호 발급</a:t>
            </a:r>
          </a:p>
        </p:txBody>
      </p:sp>
      <p:sp>
        <p:nvSpPr>
          <p:cNvPr id="5" name="Rectangle 4"/>
          <p:cNvSpPr/>
          <p:nvPr/>
        </p:nvSpPr>
        <p:spPr>
          <a:xfrm>
            <a:off x="548640" y="6382512"/>
            <a:ext cx="11064240" cy="10972"/>
          </a:xfrm>
          <a:prstGeom prst="rect">
            <a:avLst/>
          </a:prstGeom>
          <a:solidFill>
            <a:srgbClr val="DBE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510528"/>
            <a:ext cx="9144000" cy="201168"/>
          </a:xfrm>
          <a:prstGeom prst="rect">
            <a:avLst/>
          </a:prstGeom>
          <a:noFill/>
        </p:spPr>
        <p:txBody>
          <a:bodyPr wrap="square">
            <a:spAutoFit/>
          </a:bodyPr>
          <a:lstStyle/>
          <a:p>
            <a:pPr>
              <a:spcAft>
                <a:spcPts val="1000"/>
              </a:spcAft>
              <a:defRPr sz="900" b="0">
                <a:solidFill>
                  <a:srgbClr val="62776C"/>
                </a:solidFill>
                <a:latin typeface="Noto Sans CJK KR"/>
              </a:defRPr>
            </a:pPr>
            <a:r>
              <a:t>박주호 · 조형준 · 도광민</a:t>
            </a:r>
          </a:p>
        </p:txBody>
      </p:sp>
      <p:sp>
        <p:nvSpPr>
          <p:cNvPr id="7" name="TextBox 6"/>
          <p:cNvSpPr txBox="1"/>
          <p:nvPr/>
        </p:nvSpPr>
        <p:spPr>
          <a:xfrm>
            <a:off x="10972800" y="6473952"/>
            <a:ext cx="640080" cy="274320"/>
          </a:xfrm>
          <a:prstGeom prst="rect">
            <a:avLst/>
          </a:prstGeom>
          <a:noFill/>
        </p:spPr>
        <p:txBody>
          <a:bodyPr wrap="square">
            <a:spAutoFit/>
          </a:bodyPr>
          <a:lstStyle/>
          <a:p>
            <a:pPr>
              <a:spcAft>
                <a:spcPts val="1000"/>
              </a:spcAft>
              <a:defRPr sz="900" b="0">
                <a:solidFill>
                  <a:srgbClr val="62776C"/>
                </a:solidFill>
                <a:latin typeface="Noto Sans CJK KR"/>
              </a:defRPr>
            </a:pPr>
            <a:r>
              <a:t>06 / 13</a:t>
            </a:r>
          </a:p>
        </p:txBody>
      </p:sp>
      <p:sp>
        <p:nvSpPr>
          <p:cNvPr id="8" name="Rounded Rectangle 7"/>
          <p:cNvSpPr/>
          <p:nvPr/>
        </p:nvSpPr>
        <p:spPr>
          <a:xfrm>
            <a:off x="594360" y="2468880"/>
            <a:ext cx="3246120" cy="3337560"/>
          </a:xfrm>
          <a:prstGeom prst="roundRect">
            <a:avLst/>
          </a:prstGeom>
          <a:solidFill>
            <a:srgbClr val="17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761488"/>
            <a:ext cx="2743200" cy="457200"/>
          </a:xfrm>
          <a:prstGeom prst="rect">
            <a:avLst/>
          </a:prstGeom>
          <a:noFill/>
        </p:spPr>
        <p:txBody>
          <a:bodyPr wrap="square">
            <a:spAutoFit/>
          </a:bodyPr>
          <a:lstStyle/>
          <a:p>
            <a:pPr>
              <a:spcAft>
                <a:spcPts val="1000"/>
              </a:spcAft>
              <a:defRPr sz="1500" b="0">
                <a:solidFill>
                  <a:srgbClr val="FFFFFF"/>
                </a:solidFill>
                <a:latin typeface="Noto Sans CJK KR"/>
              </a:defRPr>
            </a:pPr>
            <a:r>
              <a:t>접수번호 예시</a:t>
            </a:r>
          </a:p>
        </p:txBody>
      </p:sp>
      <p:sp>
        <p:nvSpPr>
          <p:cNvPr id="10" name="TextBox 9"/>
          <p:cNvSpPr txBox="1"/>
          <p:nvPr/>
        </p:nvSpPr>
        <p:spPr>
          <a:xfrm>
            <a:off x="868680" y="3520440"/>
            <a:ext cx="2743200" cy="914400"/>
          </a:xfrm>
          <a:prstGeom prst="rect">
            <a:avLst/>
          </a:prstGeom>
          <a:noFill/>
        </p:spPr>
        <p:txBody>
          <a:bodyPr wrap="square">
            <a:spAutoFit/>
          </a:bodyPr>
          <a:lstStyle/>
          <a:p>
            <a:pPr>
              <a:spcAft>
                <a:spcPts val="1000"/>
              </a:spcAft>
              <a:defRPr sz="3800" b="1">
                <a:solidFill>
                  <a:srgbClr val="FFFFFF"/>
                </a:solidFill>
                <a:latin typeface="Noto Sans CJK KR"/>
              </a:defRPr>
            </a:pPr>
            <a:r>
              <a:t>A7K2P</a:t>
            </a:r>
          </a:p>
        </p:txBody>
      </p:sp>
      <p:sp>
        <p:nvSpPr>
          <p:cNvPr id="11" name="TextBox 10"/>
          <p:cNvSpPr txBox="1"/>
          <p:nvPr/>
        </p:nvSpPr>
        <p:spPr>
          <a:xfrm>
            <a:off x="868680" y="4846320"/>
            <a:ext cx="2743200" cy="548640"/>
          </a:xfrm>
          <a:prstGeom prst="rect">
            <a:avLst/>
          </a:prstGeom>
          <a:noFill/>
        </p:spPr>
        <p:txBody>
          <a:bodyPr wrap="square">
            <a:spAutoFit/>
          </a:bodyPr>
          <a:lstStyle/>
          <a:p>
            <a:pPr>
              <a:spcAft>
                <a:spcPts val="1000"/>
              </a:spcAft>
              <a:defRPr sz="1300" b="0">
                <a:solidFill>
                  <a:srgbClr val="BED6C7"/>
                </a:solidFill>
                <a:latin typeface="Noto Sans CJK KR"/>
              </a:defRPr>
            </a:pPr>
            <a:r>
              <a:t>설명용 예시 번호</a:t>
            </a:r>
          </a:p>
        </p:txBody>
      </p:sp>
      <p:sp>
        <p:nvSpPr>
          <p:cNvPr id="12" name="Rounded Rectangle 11"/>
          <p:cNvSpPr/>
          <p:nvPr/>
        </p:nvSpPr>
        <p:spPr>
          <a:xfrm>
            <a:off x="4343400" y="2880360"/>
            <a:ext cx="2148840" cy="914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3127248"/>
            <a:ext cx="1828800" cy="457200"/>
          </a:xfrm>
          <a:prstGeom prst="rect">
            <a:avLst/>
          </a:prstGeom>
          <a:noFill/>
        </p:spPr>
        <p:txBody>
          <a:bodyPr wrap="square">
            <a:spAutoFit/>
          </a:bodyPr>
          <a:lstStyle/>
          <a:p>
            <a:pPr>
              <a:spcAft>
                <a:spcPts val="1000"/>
              </a:spcAft>
              <a:defRPr sz="2100" b="1">
                <a:solidFill>
                  <a:srgbClr val="173C31"/>
                </a:solidFill>
                <a:latin typeface="Noto Sans CJK KR"/>
              </a:defRPr>
            </a:pPr>
            <a:r>
              <a:t>접수</a:t>
            </a:r>
          </a:p>
        </p:txBody>
      </p:sp>
      <p:sp>
        <p:nvSpPr>
          <p:cNvPr id="14" name="TextBox 13"/>
          <p:cNvSpPr txBox="1"/>
          <p:nvPr/>
        </p:nvSpPr>
        <p:spPr>
          <a:xfrm>
            <a:off x="6483096" y="3108960"/>
            <a:ext cx="274320" cy="457200"/>
          </a:xfrm>
          <a:prstGeom prst="rect">
            <a:avLst/>
          </a:prstGeom>
          <a:noFill/>
        </p:spPr>
        <p:txBody>
          <a:bodyPr wrap="square">
            <a:spAutoFit/>
          </a:bodyPr>
          <a:lstStyle/>
          <a:p>
            <a:pPr>
              <a:spcAft>
                <a:spcPts val="1000"/>
              </a:spcAft>
              <a:defRPr sz="2500" b="0">
                <a:solidFill>
                  <a:srgbClr val="23785A"/>
                </a:solidFill>
                <a:latin typeface="Noto Sans CJK KR"/>
              </a:defRPr>
            </a:pPr>
            <a:r>
              <a:t>›</a:t>
            </a:r>
          </a:p>
        </p:txBody>
      </p:sp>
      <p:sp>
        <p:nvSpPr>
          <p:cNvPr id="15" name="Rounded Rectangle 14"/>
          <p:cNvSpPr/>
          <p:nvPr/>
        </p:nvSpPr>
        <p:spPr>
          <a:xfrm>
            <a:off x="6766560" y="2880360"/>
            <a:ext cx="2148840" cy="914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9440" y="3127248"/>
            <a:ext cx="1828800" cy="457200"/>
          </a:xfrm>
          <a:prstGeom prst="rect">
            <a:avLst/>
          </a:prstGeom>
          <a:noFill/>
        </p:spPr>
        <p:txBody>
          <a:bodyPr wrap="square">
            <a:spAutoFit/>
          </a:bodyPr>
          <a:lstStyle/>
          <a:p>
            <a:pPr>
              <a:spcAft>
                <a:spcPts val="1000"/>
              </a:spcAft>
              <a:defRPr sz="2100" b="1">
                <a:solidFill>
                  <a:srgbClr val="173C31"/>
                </a:solidFill>
                <a:latin typeface="Noto Sans CJK KR"/>
              </a:defRPr>
            </a:pPr>
            <a:r>
              <a:t>확인 중</a:t>
            </a:r>
          </a:p>
        </p:txBody>
      </p:sp>
      <p:sp>
        <p:nvSpPr>
          <p:cNvPr id="17" name="TextBox 16"/>
          <p:cNvSpPr txBox="1"/>
          <p:nvPr/>
        </p:nvSpPr>
        <p:spPr>
          <a:xfrm>
            <a:off x="8906256" y="3108960"/>
            <a:ext cx="274320" cy="457200"/>
          </a:xfrm>
          <a:prstGeom prst="rect">
            <a:avLst/>
          </a:prstGeom>
          <a:noFill/>
        </p:spPr>
        <p:txBody>
          <a:bodyPr wrap="square">
            <a:spAutoFit/>
          </a:bodyPr>
          <a:lstStyle/>
          <a:p>
            <a:pPr>
              <a:spcAft>
                <a:spcPts val="1000"/>
              </a:spcAft>
              <a:defRPr sz="2500" b="0">
                <a:solidFill>
                  <a:srgbClr val="23785A"/>
                </a:solidFill>
                <a:latin typeface="Noto Sans CJK KR"/>
              </a:defRPr>
            </a:pPr>
            <a:r>
              <a:t>›</a:t>
            </a:r>
          </a:p>
        </p:txBody>
      </p:sp>
      <p:sp>
        <p:nvSpPr>
          <p:cNvPr id="18" name="Rounded Rectangle 17"/>
          <p:cNvSpPr/>
          <p:nvPr/>
        </p:nvSpPr>
        <p:spPr>
          <a:xfrm>
            <a:off x="9189720" y="2880360"/>
            <a:ext cx="2148840" cy="914400"/>
          </a:xfrm>
          <a:prstGeom prst="roundRect">
            <a:avLst/>
          </a:prstGeom>
          <a:solidFill>
            <a:srgbClr val="237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72600" y="3127248"/>
            <a:ext cx="1828800" cy="457200"/>
          </a:xfrm>
          <a:prstGeom prst="rect">
            <a:avLst/>
          </a:prstGeom>
          <a:noFill/>
        </p:spPr>
        <p:txBody>
          <a:bodyPr wrap="square">
            <a:spAutoFit/>
          </a:bodyPr>
          <a:lstStyle/>
          <a:p>
            <a:pPr>
              <a:spcAft>
                <a:spcPts val="1000"/>
              </a:spcAft>
              <a:defRPr sz="2100" b="1">
                <a:solidFill>
                  <a:srgbClr val="FFFFFF"/>
                </a:solidFill>
                <a:latin typeface="Noto Sans CJK KR"/>
              </a:defRPr>
            </a:pPr>
            <a:r>
              <a:t>처리 완료</a:t>
            </a:r>
          </a:p>
        </p:txBody>
      </p:sp>
      <p:sp>
        <p:nvSpPr>
          <p:cNvPr id="20" name="TextBox 19"/>
          <p:cNvSpPr txBox="1"/>
          <p:nvPr/>
        </p:nvSpPr>
        <p:spPr>
          <a:xfrm>
            <a:off x="4389120" y="4434840"/>
            <a:ext cx="6766560" cy="1280160"/>
          </a:xfrm>
          <a:prstGeom prst="rect">
            <a:avLst/>
          </a:prstGeom>
          <a:noFill/>
        </p:spPr>
        <p:txBody>
          <a:bodyPr wrap="square">
            <a:spAutoFit/>
          </a:bodyPr>
          <a:lstStyle/>
          <a:p>
            <a:pPr>
              <a:spcAft>
                <a:spcPts val="1000"/>
              </a:spcAft>
              <a:defRPr sz="2200" b="0">
                <a:solidFill>
                  <a:srgbClr val="173C31"/>
                </a:solidFill>
                <a:latin typeface="Noto Sans CJK KR"/>
              </a:defRPr>
            </a:pPr>
            <a:r>
              <a:t>‘진행상황 조회’ 탭에서 확인</a:t>
            </a:r>
          </a:p>
          <a:p>
            <a:pPr>
              <a:spcAft>
                <a:spcPts val="1000"/>
              </a:spcAft>
              <a:defRPr sz="2200" b="0">
                <a:solidFill>
                  <a:srgbClr val="173C31"/>
                </a:solidFill>
                <a:latin typeface="Noto Sans CJK KR"/>
              </a:defRPr>
            </a:pPr>
            <a:r>
              <a:t>처리 상태 · 담당자 안내 · 변경 이력</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EF"/>
        </a:solidFill>
        <a:effectLst/>
      </p:bgPr>
    </p:bg>
    <p:spTree>
      <p:nvGrpSpPr>
        <p:cNvPr id="1" name=""/>
        <p:cNvGrpSpPr/>
        <p:nvPr/>
      </p:nvGrpSpPr>
      <p:grpSpPr/>
      <p:sp>
        <p:nvSpPr>
          <p:cNvPr id="2" name="TextBox 1"/>
          <p:cNvSpPr txBox="1"/>
          <p:nvPr/>
        </p:nvSpPr>
        <p:spPr>
          <a:xfrm>
            <a:off x="502920" y="210312"/>
            <a:ext cx="10058400" cy="274320"/>
          </a:xfrm>
          <a:prstGeom prst="rect">
            <a:avLst/>
          </a:prstGeom>
          <a:noFill/>
        </p:spPr>
        <p:txBody>
          <a:bodyPr wrap="square">
            <a:spAutoFit/>
          </a:bodyPr>
          <a:lstStyle/>
          <a:p>
            <a:pPr>
              <a:spcAft>
                <a:spcPts val="1000"/>
              </a:spcAft>
              <a:defRPr sz="1000" b="1">
                <a:solidFill>
                  <a:srgbClr val="23785A"/>
                </a:solidFill>
                <a:latin typeface="Noto Sans CJK KR"/>
              </a:defRPr>
            </a:pPr>
            <a:r>
              <a:t>PINESHIELD   /   시민 참여형 소나무 보호 서비스</a:t>
            </a:r>
          </a:p>
        </p:txBody>
      </p:sp>
      <p:sp>
        <p:nvSpPr>
          <p:cNvPr id="3" name="TextBox 2"/>
          <p:cNvSpPr txBox="1"/>
          <p:nvPr/>
        </p:nvSpPr>
        <p:spPr>
          <a:xfrm>
            <a:off x="548640" y="822960"/>
            <a:ext cx="10972800" cy="685800"/>
          </a:xfrm>
          <a:prstGeom prst="rect">
            <a:avLst/>
          </a:prstGeom>
          <a:noFill/>
        </p:spPr>
        <p:txBody>
          <a:bodyPr wrap="square">
            <a:spAutoFit/>
          </a:bodyPr>
          <a:lstStyle/>
          <a:p>
            <a:pPr>
              <a:spcAft>
                <a:spcPts val="1000"/>
              </a:spcAft>
              <a:defRPr sz="3000" b="1">
                <a:solidFill>
                  <a:srgbClr val="173C31"/>
                </a:solidFill>
                <a:latin typeface="Noto Sans CJK KR"/>
              </a:defRPr>
            </a:pPr>
            <a:r>
              <a:t>공무원 화면: 현황을 보고, 우선 확인할 제보를 찾습니다</a:t>
            </a:r>
          </a:p>
        </p:txBody>
      </p:sp>
      <p:sp>
        <p:nvSpPr>
          <p:cNvPr id="4" name="TextBox 3"/>
          <p:cNvSpPr txBox="1"/>
          <p:nvPr/>
        </p:nvSpPr>
        <p:spPr>
          <a:xfrm>
            <a:off x="576072" y="1572768"/>
            <a:ext cx="10972800" cy="594360"/>
          </a:xfrm>
          <a:prstGeom prst="rect">
            <a:avLst/>
          </a:prstGeom>
          <a:noFill/>
        </p:spPr>
        <p:txBody>
          <a:bodyPr wrap="square">
            <a:spAutoFit/>
          </a:bodyPr>
          <a:lstStyle/>
          <a:p>
            <a:pPr>
              <a:spcAft>
                <a:spcPts val="1000"/>
              </a:spcAft>
              <a:defRPr sz="1500" b="0">
                <a:solidFill>
                  <a:srgbClr val="62776C"/>
                </a:solidFill>
                <a:latin typeface="Noto Sans CJK KR"/>
              </a:defRPr>
            </a:pPr>
            <a:r>
              <a:t>제공된 사이트 화면 기준  /  화면 구성 재정리 · 캡처 당시 수치는 예시입니다.</a:t>
            </a:r>
          </a:p>
        </p:txBody>
      </p:sp>
      <p:sp>
        <p:nvSpPr>
          <p:cNvPr id="5" name="Rectangle 4"/>
          <p:cNvSpPr/>
          <p:nvPr/>
        </p:nvSpPr>
        <p:spPr>
          <a:xfrm>
            <a:off x="548640" y="6382512"/>
            <a:ext cx="11064240" cy="10972"/>
          </a:xfrm>
          <a:prstGeom prst="rect">
            <a:avLst/>
          </a:prstGeom>
          <a:solidFill>
            <a:srgbClr val="DBE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510528"/>
            <a:ext cx="9144000" cy="201168"/>
          </a:xfrm>
          <a:prstGeom prst="rect">
            <a:avLst/>
          </a:prstGeom>
          <a:noFill/>
        </p:spPr>
        <p:txBody>
          <a:bodyPr wrap="square">
            <a:spAutoFit/>
          </a:bodyPr>
          <a:lstStyle/>
          <a:p>
            <a:pPr>
              <a:spcAft>
                <a:spcPts val="1000"/>
              </a:spcAft>
              <a:defRPr sz="900" b="0">
                <a:solidFill>
                  <a:srgbClr val="62776C"/>
                </a:solidFill>
                <a:latin typeface="Noto Sans CJK KR"/>
              </a:defRPr>
            </a:pPr>
            <a:r>
              <a:t>박주호 · 조형준 · 도광민</a:t>
            </a:r>
          </a:p>
        </p:txBody>
      </p:sp>
      <p:sp>
        <p:nvSpPr>
          <p:cNvPr id="7" name="TextBox 6"/>
          <p:cNvSpPr txBox="1"/>
          <p:nvPr/>
        </p:nvSpPr>
        <p:spPr>
          <a:xfrm>
            <a:off x="10972800" y="6473952"/>
            <a:ext cx="640080" cy="274320"/>
          </a:xfrm>
          <a:prstGeom prst="rect">
            <a:avLst/>
          </a:prstGeom>
          <a:noFill/>
        </p:spPr>
        <p:txBody>
          <a:bodyPr wrap="square">
            <a:spAutoFit/>
          </a:bodyPr>
          <a:lstStyle/>
          <a:p>
            <a:pPr>
              <a:spcAft>
                <a:spcPts val="1000"/>
              </a:spcAft>
              <a:defRPr sz="900" b="0">
                <a:solidFill>
                  <a:srgbClr val="62776C"/>
                </a:solidFill>
                <a:latin typeface="Noto Sans CJK KR"/>
              </a:defRPr>
            </a:pPr>
            <a:r>
              <a:t>07 / 13</a:t>
            </a:r>
          </a:p>
        </p:txBody>
      </p:sp>
      <p:sp>
        <p:nvSpPr>
          <p:cNvPr id="8" name="Rounded Rectangle 7"/>
          <p:cNvSpPr/>
          <p:nvPr/>
        </p:nvSpPr>
        <p:spPr>
          <a:xfrm>
            <a:off x="594360" y="2331720"/>
            <a:ext cx="260604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468880"/>
            <a:ext cx="2286000" cy="320040"/>
          </a:xfrm>
          <a:prstGeom prst="rect">
            <a:avLst/>
          </a:prstGeom>
          <a:noFill/>
        </p:spPr>
        <p:txBody>
          <a:bodyPr wrap="square">
            <a:spAutoFit/>
          </a:bodyPr>
          <a:lstStyle/>
          <a:p>
            <a:pPr>
              <a:spcAft>
                <a:spcPts val="1000"/>
              </a:spcAft>
              <a:defRPr sz="1400" b="0">
                <a:solidFill>
                  <a:srgbClr val="62776C"/>
                </a:solidFill>
                <a:latin typeface="Noto Sans CJK KR"/>
              </a:defRPr>
            </a:pPr>
            <a:r>
              <a:t>접수</a:t>
            </a:r>
          </a:p>
        </p:txBody>
      </p:sp>
      <p:sp>
        <p:nvSpPr>
          <p:cNvPr id="10" name="TextBox 9"/>
          <p:cNvSpPr txBox="1"/>
          <p:nvPr/>
        </p:nvSpPr>
        <p:spPr>
          <a:xfrm>
            <a:off x="777240" y="2816352"/>
            <a:ext cx="2286000" cy="457200"/>
          </a:xfrm>
          <a:prstGeom prst="rect">
            <a:avLst/>
          </a:prstGeom>
          <a:noFill/>
        </p:spPr>
        <p:txBody>
          <a:bodyPr wrap="square">
            <a:spAutoFit/>
          </a:bodyPr>
          <a:lstStyle/>
          <a:p>
            <a:pPr>
              <a:spcAft>
                <a:spcPts val="1000"/>
              </a:spcAft>
              <a:defRPr sz="2500" b="1">
                <a:solidFill>
                  <a:srgbClr val="23785A"/>
                </a:solidFill>
                <a:latin typeface="Noto Sans CJK KR"/>
              </a:defRPr>
            </a:pPr>
            <a:r>
              <a:t>5건</a:t>
            </a:r>
          </a:p>
        </p:txBody>
      </p:sp>
      <p:sp>
        <p:nvSpPr>
          <p:cNvPr id="11" name="Rounded Rectangle 10"/>
          <p:cNvSpPr/>
          <p:nvPr/>
        </p:nvSpPr>
        <p:spPr>
          <a:xfrm>
            <a:off x="3410712" y="2331720"/>
            <a:ext cx="260604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93592" y="2468880"/>
            <a:ext cx="2286000" cy="320040"/>
          </a:xfrm>
          <a:prstGeom prst="rect">
            <a:avLst/>
          </a:prstGeom>
          <a:noFill/>
        </p:spPr>
        <p:txBody>
          <a:bodyPr wrap="square">
            <a:spAutoFit/>
          </a:bodyPr>
          <a:lstStyle/>
          <a:p>
            <a:pPr>
              <a:spcAft>
                <a:spcPts val="1000"/>
              </a:spcAft>
              <a:defRPr sz="1400" b="0">
                <a:solidFill>
                  <a:srgbClr val="62776C"/>
                </a:solidFill>
                <a:latin typeface="Noto Sans CJK KR"/>
              </a:defRPr>
            </a:pPr>
            <a:r>
              <a:t>확인 중</a:t>
            </a:r>
          </a:p>
        </p:txBody>
      </p:sp>
      <p:sp>
        <p:nvSpPr>
          <p:cNvPr id="13" name="TextBox 12"/>
          <p:cNvSpPr txBox="1"/>
          <p:nvPr/>
        </p:nvSpPr>
        <p:spPr>
          <a:xfrm>
            <a:off x="3593592" y="2816352"/>
            <a:ext cx="2286000" cy="457200"/>
          </a:xfrm>
          <a:prstGeom prst="rect">
            <a:avLst/>
          </a:prstGeom>
          <a:noFill/>
        </p:spPr>
        <p:txBody>
          <a:bodyPr wrap="square">
            <a:spAutoFit/>
          </a:bodyPr>
          <a:lstStyle/>
          <a:p>
            <a:pPr>
              <a:spcAft>
                <a:spcPts val="1000"/>
              </a:spcAft>
              <a:defRPr sz="2500" b="1">
                <a:solidFill>
                  <a:srgbClr val="23785A"/>
                </a:solidFill>
                <a:latin typeface="Noto Sans CJK KR"/>
              </a:defRPr>
            </a:pPr>
            <a:r>
              <a:t>0건</a:t>
            </a:r>
          </a:p>
        </p:txBody>
      </p:sp>
      <p:sp>
        <p:nvSpPr>
          <p:cNvPr id="14" name="Rounded Rectangle 13"/>
          <p:cNvSpPr/>
          <p:nvPr/>
        </p:nvSpPr>
        <p:spPr>
          <a:xfrm>
            <a:off x="6227064" y="2331720"/>
            <a:ext cx="260604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2468880"/>
            <a:ext cx="2286000" cy="320040"/>
          </a:xfrm>
          <a:prstGeom prst="rect">
            <a:avLst/>
          </a:prstGeom>
          <a:noFill/>
        </p:spPr>
        <p:txBody>
          <a:bodyPr wrap="square">
            <a:spAutoFit/>
          </a:bodyPr>
          <a:lstStyle/>
          <a:p>
            <a:pPr>
              <a:spcAft>
                <a:spcPts val="1000"/>
              </a:spcAft>
              <a:defRPr sz="1400" b="0">
                <a:solidFill>
                  <a:srgbClr val="62776C"/>
                </a:solidFill>
                <a:latin typeface="Noto Sans CJK KR"/>
              </a:defRPr>
            </a:pPr>
            <a:r>
              <a:t>처리 완료</a:t>
            </a:r>
          </a:p>
        </p:txBody>
      </p:sp>
      <p:sp>
        <p:nvSpPr>
          <p:cNvPr id="16" name="TextBox 15"/>
          <p:cNvSpPr txBox="1"/>
          <p:nvPr/>
        </p:nvSpPr>
        <p:spPr>
          <a:xfrm>
            <a:off x="6409944" y="2816352"/>
            <a:ext cx="2286000" cy="457200"/>
          </a:xfrm>
          <a:prstGeom prst="rect">
            <a:avLst/>
          </a:prstGeom>
          <a:noFill/>
        </p:spPr>
        <p:txBody>
          <a:bodyPr wrap="square">
            <a:spAutoFit/>
          </a:bodyPr>
          <a:lstStyle/>
          <a:p>
            <a:pPr>
              <a:spcAft>
                <a:spcPts val="1000"/>
              </a:spcAft>
              <a:defRPr sz="2500" b="1">
                <a:solidFill>
                  <a:srgbClr val="23785A"/>
                </a:solidFill>
                <a:latin typeface="Noto Sans CJK KR"/>
              </a:defRPr>
            </a:pPr>
            <a:r>
              <a:t>3건</a:t>
            </a:r>
          </a:p>
        </p:txBody>
      </p:sp>
      <p:sp>
        <p:nvSpPr>
          <p:cNvPr id="17" name="Rounded Rectangle 16"/>
          <p:cNvSpPr/>
          <p:nvPr/>
        </p:nvSpPr>
        <p:spPr>
          <a:xfrm>
            <a:off x="9043416" y="2331720"/>
            <a:ext cx="260604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26296" y="2468880"/>
            <a:ext cx="2286000" cy="320040"/>
          </a:xfrm>
          <a:prstGeom prst="rect">
            <a:avLst/>
          </a:prstGeom>
          <a:noFill/>
        </p:spPr>
        <p:txBody>
          <a:bodyPr wrap="square">
            <a:spAutoFit/>
          </a:bodyPr>
          <a:lstStyle/>
          <a:p>
            <a:pPr>
              <a:spcAft>
                <a:spcPts val="1000"/>
              </a:spcAft>
              <a:defRPr sz="1400" b="0">
                <a:solidFill>
                  <a:srgbClr val="62776C"/>
                </a:solidFill>
                <a:latin typeface="Noto Sans CJK KR"/>
              </a:defRPr>
            </a:pPr>
            <a:r>
              <a:t>우선 확인</a:t>
            </a:r>
          </a:p>
        </p:txBody>
      </p:sp>
      <p:sp>
        <p:nvSpPr>
          <p:cNvPr id="19" name="TextBox 18"/>
          <p:cNvSpPr txBox="1"/>
          <p:nvPr/>
        </p:nvSpPr>
        <p:spPr>
          <a:xfrm>
            <a:off x="9226296" y="2816352"/>
            <a:ext cx="2286000" cy="457200"/>
          </a:xfrm>
          <a:prstGeom prst="rect">
            <a:avLst/>
          </a:prstGeom>
          <a:noFill/>
        </p:spPr>
        <p:txBody>
          <a:bodyPr wrap="square">
            <a:spAutoFit/>
          </a:bodyPr>
          <a:lstStyle/>
          <a:p>
            <a:pPr>
              <a:spcAft>
                <a:spcPts val="1000"/>
              </a:spcAft>
              <a:defRPr sz="2500" b="1">
                <a:solidFill>
                  <a:srgbClr val="A3662E"/>
                </a:solidFill>
                <a:latin typeface="Noto Sans CJK KR"/>
              </a:defRPr>
            </a:pPr>
            <a:r>
              <a:t>2건</a:t>
            </a:r>
          </a:p>
        </p:txBody>
      </p:sp>
      <p:sp>
        <p:nvSpPr>
          <p:cNvPr id="20" name="Rounded Rectangle 19"/>
          <p:cNvSpPr/>
          <p:nvPr/>
        </p:nvSpPr>
        <p:spPr>
          <a:xfrm>
            <a:off x="594360" y="3675887"/>
            <a:ext cx="11045952" cy="566928"/>
          </a:xfrm>
          <a:prstGeom prst="roundRect">
            <a:avLst/>
          </a:prstGeom>
          <a:solidFill>
            <a:srgbClr val="E3EB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3794760"/>
            <a:ext cx="10652760" cy="365760"/>
          </a:xfrm>
          <a:prstGeom prst="rect">
            <a:avLst/>
          </a:prstGeom>
          <a:noFill/>
        </p:spPr>
        <p:txBody>
          <a:bodyPr wrap="square">
            <a:spAutoFit/>
          </a:bodyPr>
          <a:lstStyle/>
          <a:p>
            <a:pPr>
              <a:spcAft>
                <a:spcPts val="1000"/>
              </a:spcAft>
              <a:defRPr sz="1600" b="1">
                <a:solidFill>
                  <a:srgbClr val="173C31"/>
                </a:solidFill>
                <a:latin typeface="Noto Sans CJK KR"/>
              </a:defRPr>
            </a:pPr>
            <a:r>
              <a:t>상태별 탭   /   심각도 필터   /   위치 또는 접수번호 검색   /   새로고침</a:t>
            </a:r>
          </a:p>
        </p:txBody>
      </p:sp>
      <p:sp>
        <p:nvSpPr>
          <p:cNvPr id="22" name="Rounded Rectangle 21"/>
          <p:cNvSpPr/>
          <p:nvPr/>
        </p:nvSpPr>
        <p:spPr>
          <a:xfrm>
            <a:off x="594360" y="4462272"/>
            <a:ext cx="5349240" cy="1417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4608576"/>
            <a:ext cx="4892040" cy="365760"/>
          </a:xfrm>
          <a:prstGeom prst="rect">
            <a:avLst/>
          </a:prstGeom>
          <a:noFill/>
        </p:spPr>
        <p:txBody>
          <a:bodyPr wrap="square">
            <a:spAutoFit/>
          </a:bodyPr>
          <a:lstStyle/>
          <a:p>
            <a:pPr>
              <a:spcAft>
                <a:spcPts val="1000"/>
              </a:spcAft>
              <a:defRPr sz="2000" b="1">
                <a:solidFill>
                  <a:srgbClr val="173C31"/>
                </a:solidFill>
                <a:latin typeface="Noto Sans CJK KR"/>
              </a:defRPr>
            </a:pPr>
            <a:r>
              <a:t>지도와 확산 우려 분석</a:t>
            </a:r>
          </a:p>
        </p:txBody>
      </p:sp>
      <p:sp>
        <p:nvSpPr>
          <p:cNvPr id="24" name="TextBox 23"/>
          <p:cNvSpPr txBox="1"/>
          <p:nvPr/>
        </p:nvSpPr>
        <p:spPr>
          <a:xfrm>
            <a:off x="822960" y="5166360"/>
            <a:ext cx="4892040" cy="457200"/>
          </a:xfrm>
          <a:prstGeom prst="rect">
            <a:avLst/>
          </a:prstGeom>
          <a:noFill/>
        </p:spPr>
        <p:txBody>
          <a:bodyPr wrap="square">
            <a:spAutoFit/>
          </a:bodyPr>
          <a:lstStyle/>
          <a:p>
            <a:pPr>
              <a:spcAft>
                <a:spcPts val="1000"/>
              </a:spcAft>
              <a:defRPr sz="1600" b="0">
                <a:solidFill>
                  <a:srgbClr val="62776C"/>
                </a:solidFill>
                <a:latin typeface="Noto Sans CJK KR"/>
              </a:defRPr>
            </a:pPr>
            <a:r>
              <a:t>제보 위치를 공간적으로 확인</a:t>
            </a:r>
          </a:p>
        </p:txBody>
      </p:sp>
      <p:sp>
        <p:nvSpPr>
          <p:cNvPr id="25" name="Rounded Rectangle 24"/>
          <p:cNvSpPr/>
          <p:nvPr/>
        </p:nvSpPr>
        <p:spPr>
          <a:xfrm>
            <a:off x="6172200" y="4462272"/>
            <a:ext cx="5468112" cy="1417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4608576"/>
            <a:ext cx="5029200" cy="365760"/>
          </a:xfrm>
          <a:prstGeom prst="rect">
            <a:avLst/>
          </a:prstGeom>
          <a:noFill/>
        </p:spPr>
        <p:txBody>
          <a:bodyPr wrap="square">
            <a:spAutoFit/>
          </a:bodyPr>
          <a:lstStyle/>
          <a:p>
            <a:pPr>
              <a:spcAft>
                <a:spcPts val="1000"/>
              </a:spcAft>
              <a:defRPr sz="2000" b="1">
                <a:solidFill>
                  <a:srgbClr val="173C31"/>
                </a:solidFill>
                <a:latin typeface="Noto Sans CJK KR"/>
              </a:defRPr>
            </a:pPr>
            <a:r>
              <a:t>제보 목록과 상세 정보</a:t>
            </a:r>
          </a:p>
        </p:txBody>
      </p:sp>
      <p:sp>
        <p:nvSpPr>
          <p:cNvPr id="27" name="TextBox 26"/>
          <p:cNvSpPr txBox="1"/>
          <p:nvPr/>
        </p:nvSpPr>
        <p:spPr>
          <a:xfrm>
            <a:off x="6400800" y="5166360"/>
            <a:ext cx="5029200" cy="457200"/>
          </a:xfrm>
          <a:prstGeom prst="rect">
            <a:avLst/>
          </a:prstGeom>
          <a:noFill/>
        </p:spPr>
        <p:txBody>
          <a:bodyPr wrap="square">
            <a:spAutoFit/>
          </a:bodyPr>
          <a:lstStyle/>
          <a:p>
            <a:pPr>
              <a:spcAft>
                <a:spcPts val="1000"/>
              </a:spcAft>
              <a:defRPr sz="1500" b="0">
                <a:solidFill>
                  <a:srgbClr val="62776C"/>
                </a:solidFill>
                <a:latin typeface="Noto Sans CJK KR"/>
              </a:defRPr>
            </a:pPr>
            <a:r>
              <a:t>미처리·심각도 높은 순 · 20초마다 자동 갱신</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EF"/>
        </a:solidFill>
        <a:effectLst/>
      </p:bgPr>
    </p:bg>
    <p:spTree>
      <p:nvGrpSpPr>
        <p:cNvPr id="1" name=""/>
        <p:cNvGrpSpPr/>
        <p:nvPr/>
      </p:nvGrpSpPr>
      <p:grpSpPr/>
      <p:sp>
        <p:nvSpPr>
          <p:cNvPr id="2" name="TextBox 1"/>
          <p:cNvSpPr txBox="1"/>
          <p:nvPr/>
        </p:nvSpPr>
        <p:spPr>
          <a:xfrm>
            <a:off x="502920" y="210312"/>
            <a:ext cx="10058400" cy="274320"/>
          </a:xfrm>
          <a:prstGeom prst="rect">
            <a:avLst/>
          </a:prstGeom>
          <a:noFill/>
        </p:spPr>
        <p:txBody>
          <a:bodyPr wrap="square">
            <a:spAutoFit/>
          </a:bodyPr>
          <a:lstStyle/>
          <a:p>
            <a:pPr>
              <a:spcAft>
                <a:spcPts val="1000"/>
              </a:spcAft>
              <a:defRPr sz="1000" b="1">
                <a:solidFill>
                  <a:srgbClr val="23785A"/>
                </a:solidFill>
                <a:latin typeface="Noto Sans CJK KR"/>
              </a:defRPr>
            </a:pPr>
            <a:r>
              <a:t>PINESHIELD   /   시민 참여형 소나무 보호 서비스</a:t>
            </a:r>
          </a:p>
        </p:txBody>
      </p:sp>
      <p:sp>
        <p:nvSpPr>
          <p:cNvPr id="3" name="TextBox 2"/>
          <p:cNvSpPr txBox="1"/>
          <p:nvPr/>
        </p:nvSpPr>
        <p:spPr>
          <a:xfrm>
            <a:off x="548640" y="822960"/>
            <a:ext cx="10972800" cy="685800"/>
          </a:xfrm>
          <a:prstGeom prst="rect">
            <a:avLst/>
          </a:prstGeom>
          <a:noFill/>
        </p:spPr>
        <p:txBody>
          <a:bodyPr wrap="square">
            <a:spAutoFit/>
          </a:bodyPr>
          <a:lstStyle/>
          <a:p>
            <a:pPr>
              <a:spcAft>
                <a:spcPts val="1000"/>
              </a:spcAft>
              <a:defRPr sz="3000" b="1">
                <a:solidFill>
                  <a:srgbClr val="173C31"/>
                </a:solidFill>
                <a:latin typeface="Noto Sans CJK KR"/>
              </a:defRPr>
            </a:pPr>
            <a:r>
              <a:t>지도에서 우선 확인할 제보를 찾습니다</a:t>
            </a:r>
          </a:p>
        </p:txBody>
      </p:sp>
      <p:sp>
        <p:nvSpPr>
          <p:cNvPr id="4" name="TextBox 3"/>
          <p:cNvSpPr txBox="1"/>
          <p:nvPr/>
        </p:nvSpPr>
        <p:spPr>
          <a:xfrm>
            <a:off x="576072" y="1572768"/>
            <a:ext cx="10972800" cy="594360"/>
          </a:xfrm>
          <a:prstGeom prst="rect">
            <a:avLst/>
          </a:prstGeom>
          <a:noFill/>
        </p:spPr>
        <p:txBody>
          <a:bodyPr wrap="square">
            <a:spAutoFit/>
          </a:bodyPr>
          <a:lstStyle/>
          <a:p>
            <a:pPr>
              <a:spcAft>
                <a:spcPts val="1000"/>
              </a:spcAft>
              <a:defRPr sz="1500" b="0">
                <a:solidFill>
                  <a:srgbClr val="62776C"/>
                </a:solidFill>
                <a:latin typeface="Noto Sans CJK KR"/>
              </a:defRPr>
            </a:pPr>
            <a:r>
              <a:t>제보 현황  /  Leaflet + OpenStreetMap</a:t>
            </a:r>
          </a:p>
        </p:txBody>
      </p:sp>
      <p:sp>
        <p:nvSpPr>
          <p:cNvPr id="5" name="Rectangle 4"/>
          <p:cNvSpPr/>
          <p:nvPr/>
        </p:nvSpPr>
        <p:spPr>
          <a:xfrm>
            <a:off x="548640" y="6382512"/>
            <a:ext cx="11064240" cy="10972"/>
          </a:xfrm>
          <a:prstGeom prst="rect">
            <a:avLst/>
          </a:prstGeom>
          <a:solidFill>
            <a:srgbClr val="DBE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510528"/>
            <a:ext cx="9144000" cy="201168"/>
          </a:xfrm>
          <a:prstGeom prst="rect">
            <a:avLst/>
          </a:prstGeom>
          <a:noFill/>
        </p:spPr>
        <p:txBody>
          <a:bodyPr wrap="square">
            <a:spAutoFit/>
          </a:bodyPr>
          <a:lstStyle/>
          <a:p>
            <a:pPr>
              <a:spcAft>
                <a:spcPts val="1000"/>
              </a:spcAft>
              <a:defRPr sz="900" b="0">
                <a:solidFill>
                  <a:srgbClr val="62776C"/>
                </a:solidFill>
                <a:latin typeface="Noto Sans CJK KR"/>
              </a:defRPr>
            </a:pPr>
            <a:r>
              <a:t>박주호 · 조형준 · 도광민</a:t>
            </a:r>
          </a:p>
        </p:txBody>
      </p:sp>
      <p:sp>
        <p:nvSpPr>
          <p:cNvPr id="7" name="TextBox 6"/>
          <p:cNvSpPr txBox="1"/>
          <p:nvPr/>
        </p:nvSpPr>
        <p:spPr>
          <a:xfrm>
            <a:off x="10972800" y="6473952"/>
            <a:ext cx="640080" cy="274320"/>
          </a:xfrm>
          <a:prstGeom prst="rect">
            <a:avLst/>
          </a:prstGeom>
          <a:noFill/>
        </p:spPr>
        <p:txBody>
          <a:bodyPr wrap="square">
            <a:spAutoFit/>
          </a:bodyPr>
          <a:lstStyle/>
          <a:p>
            <a:pPr>
              <a:spcAft>
                <a:spcPts val="1000"/>
              </a:spcAft>
              <a:defRPr sz="900" b="0">
                <a:solidFill>
                  <a:srgbClr val="62776C"/>
                </a:solidFill>
                <a:latin typeface="Noto Sans CJK KR"/>
              </a:defRPr>
            </a:pPr>
            <a:r>
              <a:t>08 / 13</a:t>
            </a:r>
          </a:p>
        </p:txBody>
      </p:sp>
      <p:sp>
        <p:nvSpPr>
          <p:cNvPr id="8" name="Rounded Rectangle 7"/>
          <p:cNvSpPr/>
          <p:nvPr/>
        </p:nvSpPr>
        <p:spPr>
          <a:xfrm>
            <a:off x="594360" y="2423160"/>
            <a:ext cx="6629400" cy="3566160"/>
          </a:xfrm>
          <a:prstGeom prst="roundRect">
            <a:avLst/>
          </a:prstGeom>
          <a:solidFill>
            <a:srgbClr val="E3EB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108960"/>
            <a:ext cx="6126480" cy="1097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11680" y="2651760"/>
            <a:ext cx="118872" cy="301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 y="4846320"/>
            <a:ext cx="6126480" cy="91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212080" y="2651760"/>
            <a:ext cx="109728" cy="301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103120" y="3154680"/>
            <a:ext cx="210312" cy="210312"/>
          </a:xfrm>
          <a:prstGeom prst="ellipse">
            <a:avLst/>
          </a:prstGeom>
          <a:solidFill>
            <a:srgbClr val="237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749039" y="3931920"/>
            <a:ext cx="210312" cy="210312"/>
          </a:xfrm>
          <a:prstGeom prst="ellipse">
            <a:avLst/>
          </a:prstGeom>
          <a:solidFill>
            <a:srgbClr val="C390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257800" y="3154680"/>
            <a:ext cx="210312" cy="210312"/>
          </a:xfrm>
          <a:prstGeom prst="ellipse">
            <a:avLst/>
          </a:prstGeom>
          <a:solidFill>
            <a:srgbClr val="B553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943600" y="4846320"/>
            <a:ext cx="210312" cy="210312"/>
          </a:xfrm>
          <a:prstGeom prst="ellipse">
            <a:avLst/>
          </a:prstGeom>
          <a:solidFill>
            <a:srgbClr val="7180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743200" y="4846320"/>
            <a:ext cx="210312" cy="210312"/>
          </a:xfrm>
          <a:prstGeom prst="ellipse">
            <a:avLst/>
          </a:prstGeom>
          <a:solidFill>
            <a:srgbClr val="B553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532120"/>
            <a:ext cx="5943600" cy="274320"/>
          </a:xfrm>
          <a:prstGeom prst="rect">
            <a:avLst/>
          </a:prstGeom>
          <a:noFill/>
        </p:spPr>
        <p:txBody>
          <a:bodyPr wrap="square">
            <a:spAutoFit/>
          </a:bodyPr>
          <a:lstStyle/>
          <a:p>
            <a:pPr>
              <a:spcAft>
                <a:spcPts val="1000"/>
              </a:spcAft>
              <a:defRPr sz="1000" b="0">
                <a:solidFill>
                  <a:srgbClr val="62776C"/>
                </a:solidFill>
                <a:latin typeface="Noto Sans CJK KR"/>
              </a:defRPr>
            </a:pPr>
            <a:r>
              <a:t>지도 개념도 · 실제 서비스 화면이나 제보 데이터가 아닙니다.</a:t>
            </a:r>
          </a:p>
        </p:txBody>
      </p:sp>
      <p:sp>
        <p:nvSpPr>
          <p:cNvPr id="19" name="TextBox 18"/>
          <p:cNvSpPr txBox="1"/>
          <p:nvPr/>
        </p:nvSpPr>
        <p:spPr>
          <a:xfrm>
            <a:off x="7680960" y="2651760"/>
            <a:ext cx="3749039" cy="548640"/>
          </a:xfrm>
          <a:prstGeom prst="rect">
            <a:avLst/>
          </a:prstGeom>
          <a:noFill/>
        </p:spPr>
        <p:txBody>
          <a:bodyPr wrap="square">
            <a:spAutoFit/>
          </a:bodyPr>
          <a:lstStyle/>
          <a:p>
            <a:pPr>
              <a:spcAft>
                <a:spcPts val="1000"/>
              </a:spcAft>
              <a:defRPr sz="2500" b="1">
                <a:solidFill>
                  <a:srgbClr val="173C31"/>
                </a:solidFill>
                <a:latin typeface="Noto Sans CJK KR"/>
              </a:defRPr>
            </a:pPr>
            <a:r>
              <a:t>현황을 한눈에</a:t>
            </a:r>
          </a:p>
        </p:txBody>
      </p:sp>
      <p:sp>
        <p:nvSpPr>
          <p:cNvPr id="20" name="TextBox 19"/>
          <p:cNvSpPr txBox="1"/>
          <p:nvPr/>
        </p:nvSpPr>
        <p:spPr>
          <a:xfrm>
            <a:off x="7680960" y="3474720"/>
            <a:ext cx="3749039" cy="1645920"/>
          </a:xfrm>
          <a:prstGeom prst="rect">
            <a:avLst/>
          </a:prstGeom>
          <a:noFill/>
        </p:spPr>
        <p:txBody>
          <a:bodyPr wrap="square">
            <a:spAutoFit/>
          </a:bodyPr>
          <a:lstStyle/>
          <a:p>
            <a:pPr>
              <a:spcAft>
                <a:spcPts val="1000"/>
              </a:spcAft>
              <a:defRPr sz="2000" b="0">
                <a:solidFill>
                  <a:srgbClr val="62776C"/>
                </a:solidFill>
                <a:latin typeface="Noto Sans CJK KR"/>
              </a:defRPr>
            </a:pPr>
            <a:r>
              <a:t>심각도별 핀 색상 구분</a:t>
            </a:r>
          </a:p>
          <a:p>
            <a:pPr>
              <a:spcAft>
                <a:spcPts val="1000"/>
              </a:spcAft>
              <a:defRPr sz="2000" b="0">
                <a:solidFill>
                  <a:srgbClr val="62776C"/>
                </a:solidFill>
                <a:latin typeface="Noto Sans CJK KR"/>
              </a:defRPr>
            </a:pPr>
            <a:r>
              <a:t>처리 상태·심각도 필터</a:t>
            </a:r>
          </a:p>
          <a:p>
            <a:pPr>
              <a:spcAft>
                <a:spcPts val="1000"/>
              </a:spcAft>
              <a:defRPr sz="2000" b="0">
                <a:solidFill>
                  <a:srgbClr val="62776C"/>
                </a:solidFill>
                <a:latin typeface="Noto Sans CJK KR"/>
              </a:defRPr>
            </a:pPr>
            <a:r>
              <a:t>검색으로 필요한 제보 탐색</a:t>
            </a:r>
          </a:p>
        </p:txBody>
      </p:sp>
      <p:sp>
        <p:nvSpPr>
          <p:cNvPr id="21" name="TextBox 20"/>
          <p:cNvSpPr txBox="1"/>
          <p:nvPr/>
        </p:nvSpPr>
        <p:spPr>
          <a:xfrm>
            <a:off x="7680960" y="5394960"/>
            <a:ext cx="3749039" cy="457200"/>
          </a:xfrm>
          <a:prstGeom prst="rect">
            <a:avLst/>
          </a:prstGeom>
          <a:noFill/>
        </p:spPr>
        <p:txBody>
          <a:bodyPr wrap="square">
            <a:spAutoFit/>
          </a:bodyPr>
          <a:lstStyle/>
          <a:p>
            <a:pPr>
              <a:spcAft>
                <a:spcPts val="1000"/>
              </a:spcAft>
              <a:defRPr sz="1300" b="1">
                <a:solidFill>
                  <a:srgbClr val="23785A"/>
                </a:solidFill>
                <a:latin typeface="Noto Sans CJK KR"/>
              </a:defRPr>
            </a:pPr>
            <a:r>
              <a:t>낮음 / 보통 / 높음 / 판단 보류</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EF"/>
        </a:solidFill>
        <a:effectLst/>
      </p:bgPr>
    </p:bg>
    <p:spTree>
      <p:nvGrpSpPr>
        <p:cNvPr id="1" name=""/>
        <p:cNvGrpSpPr/>
        <p:nvPr/>
      </p:nvGrpSpPr>
      <p:grpSpPr/>
      <p:sp>
        <p:nvSpPr>
          <p:cNvPr id="2" name="TextBox 1"/>
          <p:cNvSpPr txBox="1"/>
          <p:nvPr/>
        </p:nvSpPr>
        <p:spPr>
          <a:xfrm>
            <a:off x="502920" y="210312"/>
            <a:ext cx="10058400" cy="274320"/>
          </a:xfrm>
          <a:prstGeom prst="rect">
            <a:avLst/>
          </a:prstGeom>
          <a:noFill/>
        </p:spPr>
        <p:txBody>
          <a:bodyPr wrap="square">
            <a:spAutoFit/>
          </a:bodyPr>
          <a:lstStyle/>
          <a:p>
            <a:pPr>
              <a:spcAft>
                <a:spcPts val="1000"/>
              </a:spcAft>
              <a:defRPr sz="1000" b="1">
                <a:solidFill>
                  <a:srgbClr val="23785A"/>
                </a:solidFill>
                <a:latin typeface="Noto Sans CJK KR"/>
              </a:defRPr>
            </a:pPr>
            <a:r>
              <a:t>PINESHIELD   /   시민 참여형 소나무 보호 서비스</a:t>
            </a:r>
          </a:p>
        </p:txBody>
      </p:sp>
      <p:sp>
        <p:nvSpPr>
          <p:cNvPr id="3" name="TextBox 2"/>
          <p:cNvSpPr txBox="1"/>
          <p:nvPr/>
        </p:nvSpPr>
        <p:spPr>
          <a:xfrm>
            <a:off x="548640" y="822960"/>
            <a:ext cx="10972800" cy="685800"/>
          </a:xfrm>
          <a:prstGeom prst="rect">
            <a:avLst/>
          </a:prstGeom>
          <a:noFill/>
        </p:spPr>
        <p:txBody>
          <a:bodyPr wrap="square">
            <a:spAutoFit/>
          </a:bodyPr>
          <a:lstStyle/>
          <a:p>
            <a:pPr>
              <a:spcAft>
                <a:spcPts val="1000"/>
              </a:spcAft>
              <a:defRPr sz="3000" b="1">
                <a:solidFill>
                  <a:srgbClr val="173C31"/>
                </a:solidFill>
                <a:latin typeface="Noto Sans CJK KR"/>
              </a:defRPr>
            </a:pPr>
            <a:r>
              <a:t>주변 확인 구역과 다음 확인 후보 방향을 제시합니다</a:t>
            </a:r>
          </a:p>
        </p:txBody>
      </p:sp>
      <p:sp>
        <p:nvSpPr>
          <p:cNvPr id="4" name="TextBox 3"/>
          <p:cNvSpPr txBox="1"/>
          <p:nvPr/>
        </p:nvSpPr>
        <p:spPr>
          <a:xfrm>
            <a:off x="576072" y="1572768"/>
            <a:ext cx="10972800" cy="594360"/>
          </a:xfrm>
          <a:prstGeom prst="rect">
            <a:avLst/>
          </a:prstGeom>
          <a:noFill/>
        </p:spPr>
        <p:txBody>
          <a:bodyPr wrap="square">
            <a:spAutoFit/>
          </a:bodyPr>
          <a:lstStyle/>
          <a:p>
            <a:pPr>
              <a:spcAft>
                <a:spcPts val="1000"/>
              </a:spcAft>
              <a:defRPr sz="1500" b="0">
                <a:solidFill>
                  <a:srgbClr val="62776C"/>
                </a:solidFill>
                <a:latin typeface="Noto Sans CJK KR"/>
              </a:defRPr>
            </a:pPr>
            <a:r>
              <a:t>공간 규칙을 이용한 참고 분석</a:t>
            </a:r>
          </a:p>
        </p:txBody>
      </p:sp>
      <p:sp>
        <p:nvSpPr>
          <p:cNvPr id="5" name="Rectangle 4"/>
          <p:cNvSpPr/>
          <p:nvPr/>
        </p:nvSpPr>
        <p:spPr>
          <a:xfrm>
            <a:off x="548640" y="6382512"/>
            <a:ext cx="11064240" cy="10972"/>
          </a:xfrm>
          <a:prstGeom prst="rect">
            <a:avLst/>
          </a:prstGeom>
          <a:solidFill>
            <a:srgbClr val="DBE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510528"/>
            <a:ext cx="9144000" cy="201168"/>
          </a:xfrm>
          <a:prstGeom prst="rect">
            <a:avLst/>
          </a:prstGeom>
          <a:noFill/>
        </p:spPr>
        <p:txBody>
          <a:bodyPr wrap="square">
            <a:spAutoFit/>
          </a:bodyPr>
          <a:lstStyle/>
          <a:p>
            <a:pPr>
              <a:spcAft>
                <a:spcPts val="1000"/>
              </a:spcAft>
              <a:defRPr sz="900" b="0">
                <a:solidFill>
                  <a:srgbClr val="62776C"/>
                </a:solidFill>
                <a:latin typeface="Noto Sans CJK KR"/>
              </a:defRPr>
            </a:pPr>
            <a:r>
              <a:t>박주호 · 조형준 · 도광민</a:t>
            </a:r>
          </a:p>
        </p:txBody>
      </p:sp>
      <p:sp>
        <p:nvSpPr>
          <p:cNvPr id="7" name="TextBox 6"/>
          <p:cNvSpPr txBox="1"/>
          <p:nvPr/>
        </p:nvSpPr>
        <p:spPr>
          <a:xfrm>
            <a:off x="10972800" y="6473952"/>
            <a:ext cx="640080" cy="274320"/>
          </a:xfrm>
          <a:prstGeom prst="rect">
            <a:avLst/>
          </a:prstGeom>
          <a:noFill/>
        </p:spPr>
        <p:txBody>
          <a:bodyPr wrap="square">
            <a:spAutoFit/>
          </a:bodyPr>
          <a:lstStyle/>
          <a:p>
            <a:pPr>
              <a:spcAft>
                <a:spcPts val="1000"/>
              </a:spcAft>
              <a:defRPr sz="900" b="0">
                <a:solidFill>
                  <a:srgbClr val="62776C"/>
                </a:solidFill>
                <a:latin typeface="Noto Sans CJK KR"/>
              </a:defRPr>
            </a:pPr>
            <a:r>
              <a:t>09 / 13</a:t>
            </a:r>
          </a:p>
        </p:txBody>
      </p:sp>
      <p:sp>
        <p:nvSpPr>
          <p:cNvPr id="8" name="Rounded Rectangle 7"/>
          <p:cNvSpPr/>
          <p:nvPr/>
        </p:nvSpPr>
        <p:spPr>
          <a:xfrm>
            <a:off x="594360" y="2423160"/>
            <a:ext cx="3474720" cy="2697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606040"/>
            <a:ext cx="3054096" cy="365760"/>
          </a:xfrm>
          <a:prstGeom prst="rect">
            <a:avLst/>
          </a:prstGeom>
          <a:noFill/>
        </p:spPr>
        <p:txBody>
          <a:bodyPr wrap="square">
            <a:spAutoFit/>
          </a:bodyPr>
          <a:lstStyle/>
          <a:p>
            <a:pPr>
              <a:spcAft>
                <a:spcPts val="1000"/>
              </a:spcAft>
              <a:defRPr sz="1300" b="1">
                <a:solidFill>
                  <a:srgbClr val="23785A"/>
                </a:solidFill>
                <a:latin typeface="Noto Sans CJK KR"/>
              </a:defRPr>
            </a:pPr>
            <a:r>
              <a:t>01</a:t>
            </a:r>
          </a:p>
        </p:txBody>
      </p:sp>
      <p:sp>
        <p:nvSpPr>
          <p:cNvPr id="10" name="TextBox 9"/>
          <p:cNvSpPr txBox="1"/>
          <p:nvPr/>
        </p:nvSpPr>
        <p:spPr>
          <a:xfrm>
            <a:off x="804672" y="3136391"/>
            <a:ext cx="3054096" cy="594360"/>
          </a:xfrm>
          <a:prstGeom prst="rect">
            <a:avLst/>
          </a:prstGeom>
          <a:noFill/>
        </p:spPr>
        <p:txBody>
          <a:bodyPr wrap="square">
            <a:spAutoFit/>
          </a:bodyPr>
          <a:lstStyle/>
          <a:p>
            <a:pPr>
              <a:spcAft>
                <a:spcPts val="1000"/>
              </a:spcAft>
              <a:defRPr sz="2200" b="1">
                <a:solidFill>
                  <a:srgbClr val="173C31"/>
                </a:solidFill>
                <a:latin typeface="Noto Sans CJK KR"/>
              </a:defRPr>
            </a:pPr>
            <a:r>
              <a:t>입력</a:t>
            </a:r>
          </a:p>
        </p:txBody>
      </p:sp>
      <p:sp>
        <p:nvSpPr>
          <p:cNvPr id="11" name="TextBox 10"/>
          <p:cNvSpPr txBox="1"/>
          <p:nvPr/>
        </p:nvSpPr>
        <p:spPr>
          <a:xfrm>
            <a:off x="804672" y="3813048"/>
            <a:ext cx="3054096" cy="1234440"/>
          </a:xfrm>
          <a:prstGeom prst="rect">
            <a:avLst/>
          </a:prstGeom>
          <a:noFill/>
        </p:spPr>
        <p:txBody>
          <a:bodyPr wrap="square">
            <a:spAutoFit/>
          </a:bodyPr>
          <a:lstStyle/>
          <a:p>
            <a:pPr>
              <a:spcAft>
                <a:spcPts val="1000"/>
              </a:spcAft>
              <a:defRPr sz="1700" b="0">
                <a:solidFill>
                  <a:srgbClr val="62776C"/>
                </a:solidFill>
                <a:latin typeface="Noto Sans CJK KR"/>
              </a:defRPr>
            </a:pPr>
            <a:r>
              <a:t>최근 제보의 위치</a:t>
            </a:r>
          </a:p>
          <a:p>
            <a:pPr>
              <a:spcAft>
                <a:spcPts val="1000"/>
              </a:spcAft>
              <a:defRPr sz="1700" b="0">
                <a:solidFill>
                  <a:srgbClr val="62776C"/>
                </a:solidFill>
                <a:latin typeface="Noto Sans CJK KR"/>
              </a:defRPr>
            </a:pPr>
            <a:r>
              <a:t>접수 시점 · AI 심각도</a:t>
            </a:r>
          </a:p>
        </p:txBody>
      </p:sp>
      <p:sp>
        <p:nvSpPr>
          <p:cNvPr id="12" name="Rounded Rectangle 11"/>
          <p:cNvSpPr/>
          <p:nvPr/>
        </p:nvSpPr>
        <p:spPr>
          <a:xfrm>
            <a:off x="4361688" y="2423160"/>
            <a:ext cx="3474720" cy="2697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2606040"/>
            <a:ext cx="3054096" cy="365760"/>
          </a:xfrm>
          <a:prstGeom prst="rect">
            <a:avLst/>
          </a:prstGeom>
          <a:noFill/>
        </p:spPr>
        <p:txBody>
          <a:bodyPr wrap="square">
            <a:spAutoFit/>
          </a:bodyPr>
          <a:lstStyle/>
          <a:p>
            <a:pPr>
              <a:spcAft>
                <a:spcPts val="1000"/>
              </a:spcAft>
              <a:defRPr sz="1300" b="1">
                <a:solidFill>
                  <a:srgbClr val="23785A"/>
                </a:solidFill>
                <a:latin typeface="Noto Sans CJK KR"/>
              </a:defRPr>
            </a:pPr>
            <a:r>
              <a:t>02</a:t>
            </a:r>
          </a:p>
        </p:txBody>
      </p:sp>
      <p:sp>
        <p:nvSpPr>
          <p:cNvPr id="14" name="TextBox 13"/>
          <p:cNvSpPr txBox="1"/>
          <p:nvPr/>
        </p:nvSpPr>
        <p:spPr>
          <a:xfrm>
            <a:off x="4572000" y="3136391"/>
            <a:ext cx="3054096" cy="594360"/>
          </a:xfrm>
          <a:prstGeom prst="rect">
            <a:avLst/>
          </a:prstGeom>
          <a:noFill/>
        </p:spPr>
        <p:txBody>
          <a:bodyPr wrap="square">
            <a:spAutoFit/>
          </a:bodyPr>
          <a:lstStyle/>
          <a:p>
            <a:pPr>
              <a:spcAft>
                <a:spcPts val="1000"/>
              </a:spcAft>
              <a:defRPr sz="2200" b="1">
                <a:solidFill>
                  <a:srgbClr val="173C31"/>
                </a:solidFill>
                <a:latin typeface="Noto Sans CJK KR"/>
              </a:defRPr>
            </a:pPr>
            <a:r>
              <a:t>비교</a:t>
            </a:r>
          </a:p>
        </p:txBody>
      </p:sp>
      <p:sp>
        <p:nvSpPr>
          <p:cNvPr id="15" name="TextBox 14"/>
          <p:cNvSpPr txBox="1"/>
          <p:nvPr/>
        </p:nvSpPr>
        <p:spPr>
          <a:xfrm>
            <a:off x="4572000" y="3813048"/>
            <a:ext cx="3054096" cy="1234440"/>
          </a:xfrm>
          <a:prstGeom prst="rect">
            <a:avLst/>
          </a:prstGeom>
          <a:noFill/>
        </p:spPr>
        <p:txBody>
          <a:bodyPr wrap="square">
            <a:spAutoFit/>
          </a:bodyPr>
          <a:lstStyle/>
          <a:p>
            <a:pPr>
              <a:spcAft>
                <a:spcPts val="1000"/>
              </a:spcAft>
              <a:defRPr sz="1700" b="0">
                <a:solidFill>
                  <a:srgbClr val="62776C"/>
                </a:solidFill>
                <a:latin typeface="Noto Sans CJK KR"/>
              </a:defRPr>
            </a:pPr>
            <a:r>
              <a:t>주변 제보의 공간적 관계</a:t>
            </a:r>
          </a:p>
          <a:p>
            <a:pPr>
              <a:spcAft>
                <a:spcPts val="1000"/>
              </a:spcAft>
              <a:defRPr sz="1700" b="0">
                <a:solidFill>
                  <a:srgbClr val="62776C"/>
                </a:solidFill>
                <a:latin typeface="Noto Sans CJK KR"/>
              </a:defRPr>
            </a:pPr>
            <a:r>
              <a:t>시간차 · 방향 일관성</a:t>
            </a:r>
          </a:p>
        </p:txBody>
      </p:sp>
      <p:sp>
        <p:nvSpPr>
          <p:cNvPr id="16" name="Rounded Rectangle 15"/>
          <p:cNvSpPr/>
          <p:nvPr/>
        </p:nvSpPr>
        <p:spPr>
          <a:xfrm>
            <a:off x="8129016" y="2423160"/>
            <a:ext cx="3474720" cy="2697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9328" y="2606040"/>
            <a:ext cx="3054096" cy="365760"/>
          </a:xfrm>
          <a:prstGeom prst="rect">
            <a:avLst/>
          </a:prstGeom>
          <a:noFill/>
        </p:spPr>
        <p:txBody>
          <a:bodyPr wrap="square">
            <a:spAutoFit/>
          </a:bodyPr>
          <a:lstStyle/>
          <a:p>
            <a:pPr>
              <a:spcAft>
                <a:spcPts val="1000"/>
              </a:spcAft>
              <a:defRPr sz="1300" b="1">
                <a:solidFill>
                  <a:srgbClr val="23785A"/>
                </a:solidFill>
                <a:latin typeface="Noto Sans CJK KR"/>
              </a:defRPr>
            </a:pPr>
            <a:r>
              <a:t>03</a:t>
            </a:r>
          </a:p>
        </p:txBody>
      </p:sp>
      <p:sp>
        <p:nvSpPr>
          <p:cNvPr id="18" name="TextBox 17"/>
          <p:cNvSpPr txBox="1"/>
          <p:nvPr/>
        </p:nvSpPr>
        <p:spPr>
          <a:xfrm>
            <a:off x="8339328" y="3136391"/>
            <a:ext cx="3054096" cy="594360"/>
          </a:xfrm>
          <a:prstGeom prst="rect">
            <a:avLst/>
          </a:prstGeom>
          <a:noFill/>
        </p:spPr>
        <p:txBody>
          <a:bodyPr wrap="square">
            <a:spAutoFit/>
          </a:bodyPr>
          <a:lstStyle/>
          <a:p>
            <a:pPr>
              <a:spcAft>
                <a:spcPts val="1000"/>
              </a:spcAft>
              <a:defRPr sz="2200" b="1">
                <a:solidFill>
                  <a:srgbClr val="173C31"/>
                </a:solidFill>
                <a:latin typeface="Noto Sans CJK KR"/>
              </a:defRPr>
            </a:pPr>
            <a:r>
              <a:t>참고 결과</a:t>
            </a:r>
          </a:p>
        </p:txBody>
      </p:sp>
      <p:sp>
        <p:nvSpPr>
          <p:cNvPr id="19" name="TextBox 18"/>
          <p:cNvSpPr txBox="1"/>
          <p:nvPr/>
        </p:nvSpPr>
        <p:spPr>
          <a:xfrm>
            <a:off x="8339328" y="3813048"/>
            <a:ext cx="3054096" cy="1234440"/>
          </a:xfrm>
          <a:prstGeom prst="rect">
            <a:avLst/>
          </a:prstGeom>
          <a:noFill/>
        </p:spPr>
        <p:txBody>
          <a:bodyPr wrap="square">
            <a:spAutoFit/>
          </a:bodyPr>
          <a:lstStyle/>
          <a:p>
            <a:pPr>
              <a:spcAft>
                <a:spcPts val="1000"/>
              </a:spcAft>
              <a:defRPr sz="1700" b="0">
                <a:solidFill>
                  <a:srgbClr val="62776C"/>
                </a:solidFill>
                <a:latin typeface="Noto Sans CJK KR"/>
              </a:defRPr>
            </a:pPr>
            <a:r>
              <a:t>주변 확인 구역</a:t>
            </a:r>
          </a:p>
          <a:p>
            <a:pPr>
              <a:spcAft>
                <a:spcPts val="1000"/>
              </a:spcAft>
              <a:defRPr sz="1700" b="0">
                <a:solidFill>
                  <a:srgbClr val="62776C"/>
                </a:solidFill>
                <a:latin typeface="Noto Sans CJK KR"/>
              </a:defRPr>
            </a:pPr>
            <a:r>
              <a:t>조건 충족 시 후보 방향</a:t>
            </a:r>
          </a:p>
        </p:txBody>
      </p:sp>
      <p:sp>
        <p:nvSpPr>
          <p:cNvPr id="20" name="Rounded Rectangle 19"/>
          <p:cNvSpPr/>
          <p:nvPr/>
        </p:nvSpPr>
        <p:spPr>
          <a:xfrm>
            <a:off x="594360" y="5394960"/>
            <a:ext cx="11018520" cy="594360"/>
          </a:xfrm>
          <a:prstGeom prst="roundRect">
            <a:avLst/>
          </a:prstGeom>
          <a:solidFill>
            <a:srgbClr val="17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5522976"/>
            <a:ext cx="10515600" cy="365760"/>
          </a:xfrm>
          <a:prstGeom prst="rect">
            <a:avLst/>
          </a:prstGeom>
          <a:noFill/>
        </p:spPr>
        <p:txBody>
          <a:bodyPr wrap="square">
            <a:spAutoFit/>
          </a:bodyPr>
          <a:lstStyle/>
          <a:p>
            <a:pPr>
              <a:spcAft>
                <a:spcPts val="1000"/>
              </a:spcAft>
              <a:defRPr sz="1600" b="0">
                <a:solidFill>
                  <a:srgbClr val="FFFFFF"/>
                </a:solidFill>
                <a:latin typeface="Noto Sans CJK KR"/>
              </a:defRPr>
            </a:pPr>
            <a:r>
              <a:t>실제 감염 경로를 검증한 예측 모델이 아닙니다. 현장 확인 범위를 검토하는 참고 정보입니다.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EF"/>
        </a:solidFill>
        <a:effectLst/>
      </p:bgPr>
    </p:bg>
    <p:spTree>
      <p:nvGrpSpPr>
        <p:cNvPr id="1" name=""/>
        <p:cNvGrpSpPr/>
        <p:nvPr/>
      </p:nvGrpSpPr>
      <p:grpSpPr/>
      <p:sp>
        <p:nvSpPr>
          <p:cNvPr id="2" name="TextBox 1"/>
          <p:cNvSpPr txBox="1"/>
          <p:nvPr/>
        </p:nvSpPr>
        <p:spPr>
          <a:xfrm>
            <a:off x="502920" y="210312"/>
            <a:ext cx="10058400" cy="274320"/>
          </a:xfrm>
          <a:prstGeom prst="rect">
            <a:avLst/>
          </a:prstGeom>
          <a:noFill/>
        </p:spPr>
        <p:txBody>
          <a:bodyPr wrap="square">
            <a:spAutoFit/>
          </a:bodyPr>
          <a:lstStyle/>
          <a:p>
            <a:pPr>
              <a:spcAft>
                <a:spcPts val="1000"/>
              </a:spcAft>
              <a:defRPr sz="1000" b="1">
                <a:solidFill>
                  <a:srgbClr val="23785A"/>
                </a:solidFill>
                <a:latin typeface="Noto Sans CJK KR"/>
              </a:defRPr>
            </a:pPr>
            <a:r>
              <a:t>PINESHIELD   /   시민 참여형 소나무 보호 서비스</a:t>
            </a:r>
          </a:p>
        </p:txBody>
      </p:sp>
      <p:sp>
        <p:nvSpPr>
          <p:cNvPr id="3" name="TextBox 2"/>
          <p:cNvSpPr txBox="1"/>
          <p:nvPr/>
        </p:nvSpPr>
        <p:spPr>
          <a:xfrm>
            <a:off x="548640" y="822960"/>
            <a:ext cx="10972800" cy="685800"/>
          </a:xfrm>
          <a:prstGeom prst="rect">
            <a:avLst/>
          </a:prstGeom>
          <a:noFill/>
        </p:spPr>
        <p:txBody>
          <a:bodyPr wrap="square">
            <a:spAutoFit/>
          </a:bodyPr>
          <a:lstStyle/>
          <a:p>
            <a:pPr>
              <a:spcAft>
                <a:spcPts val="1000"/>
              </a:spcAft>
              <a:defRPr sz="3000" b="1">
                <a:solidFill>
                  <a:srgbClr val="173C31"/>
                </a:solidFill>
                <a:latin typeface="Noto Sans CJK KR"/>
              </a:defRPr>
            </a:pPr>
            <a:r>
              <a:t>웹·AI·지도·저장을 연결한 서비스 구성</a:t>
            </a:r>
          </a:p>
        </p:txBody>
      </p:sp>
      <p:sp>
        <p:nvSpPr>
          <p:cNvPr id="4" name="TextBox 3"/>
          <p:cNvSpPr txBox="1"/>
          <p:nvPr/>
        </p:nvSpPr>
        <p:spPr>
          <a:xfrm>
            <a:off x="576072" y="1572768"/>
            <a:ext cx="10972800" cy="594360"/>
          </a:xfrm>
          <a:prstGeom prst="rect">
            <a:avLst/>
          </a:prstGeom>
          <a:noFill/>
        </p:spPr>
        <p:txBody>
          <a:bodyPr wrap="square">
            <a:spAutoFit/>
          </a:bodyPr>
          <a:lstStyle/>
          <a:p>
            <a:pPr>
              <a:spcAft>
                <a:spcPts val="1000"/>
              </a:spcAft>
              <a:defRPr sz="1500" b="0">
                <a:solidFill>
                  <a:srgbClr val="62776C"/>
                </a:solidFill>
                <a:latin typeface="Noto Sans CJK KR"/>
              </a:defRPr>
            </a:pPr>
            <a:r>
              <a:t>기술 구성  /  제공된 프로젝트 설명 기준</a:t>
            </a:r>
          </a:p>
        </p:txBody>
      </p:sp>
      <p:sp>
        <p:nvSpPr>
          <p:cNvPr id="5" name="Rectangle 4"/>
          <p:cNvSpPr/>
          <p:nvPr/>
        </p:nvSpPr>
        <p:spPr>
          <a:xfrm>
            <a:off x="548640" y="6382512"/>
            <a:ext cx="11064240" cy="10972"/>
          </a:xfrm>
          <a:prstGeom prst="rect">
            <a:avLst/>
          </a:prstGeom>
          <a:solidFill>
            <a:srgbClr val="DBE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510528"/>
            <a:ext cx="9144000" cy="201168"/>
          </a:xfrm>
          <a:prstGeom prst="rect">
            <a:avLst/>
          </a:prstGeom>
          <a:noFill/>
        </p:spPr>
        <p:txBody>
          <a:bodyPr wrap="square">
            <a:spAutoFit/>
          </a:bodyPr>
          <a:lstStyle/>
          <a:p>
            <a:pPr>
              <a:spcAft>
                <a:spcPts val="1000"/>
              </a:spcAft>
              <a:defRPr sz="900" b="0">
                <a:solidFill>
                  <a:srgbClr val="62776C"/>
                </a:solidFill>
                <a:latin typeface="Noto Sans CJK KR"/>
              </a:defRPr>
            </a:pPr>
            <a:r>
              <a:t>박주호 · 조형준 · 도광민</a:t>
            </a:r>
          </a:p>
        </p:txBody>
      </p:sp>
      <p:sp>
        <p:nvSpPr>
          <p:cNvPr id="7" name="TextBox 6"/>
          <p:cNvSpPr txBox="1"/>
          <p:nvPr/>
        </p:nvSpPr>
        <p:spPr>
          <a:xfrm>
            <a:off x="10972800" y="6473952"/>
            <a:ext cx="640080" cy="274320"/>
          </a:xfrm>
          <a:prstGeom prst="rect">
            <a:avLst/>
          </a:prstGeom>
          <a:noFill/>
        </p:spPr>
        <p:txBody>
          <a:bodyPr wrap="square">
            <a:spAutoFit/>
          </a:bodyPr>
          <a:lstStyle/>
          <a:p>
            <a:pPr>
              <a:spcAft>
                <a:spcPts val="1000"/>
              </a:spcAft>
              <a:defRPr sz="900" b="0">
                <a:solidFill>
                  <a:srgbClr val="62776C"/>
                </a:solidFill>
                <a:latin typeface="Noto Sans CJK KR"/>
              </a:defRPr>
            </a:pPr>
            <a:r>
              <a:t>10 / 13</a:t>
            </a:r>
          </a:p>
        </p:txBody>
      </p:sp>
      <p:sp>
        <p:nvSpPr>
          <p:cNvPr id="8" name="Rectangle 7"/>
          <p:cNvSpPr/>
          <p:nvPr/>
        </p:nvSpPr>
        <p:spPr>
          <a:xfrm>
            <a:off x="594360" y="2331720"/>
            <a:ext cx="11018520" cy="5120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423160"/>
            <a:ext cx="1645920" cy="365760"/>
          </a:xfrm>
          <a:prstGeom prst="rect">
            <a:avLst/>
          </a:prstGeom>
          <a:noFill/>
        </p:spPr>
        <p:txBody>
          <a:bodyPr wrap="square">
            <a:spAutoFit/>
          </a:bodyPr>
          <a:lstStyle/>
          <a:p>
            <a:pPr>
              <a:spcAft>
                <a:spcPts val="1000"/>
              </a:spcAft>
              <a:defRPr sz="1500" b="1">
                <a:solidFill>
                  <a:srgbClr val="23785A"/>
                </a:solidFill>
                <a:latin typeface="Noto Sans CJK KR"/>
              </a:defRPr>
            </a:pPr>
            <a:r>
              <a:t>웹 화면</a:t>
            </a:r>
          </a:p>
        </p:txBody>
      </p:sp>
      <p:sp>
        <p:nvSpPr>
          <p:cNvPr id="10" name="TextBox 9"/>
          <p:cNvSpPr txBox="1"/>
          <p:nvPr/>
        </p:nvSpPr>
        <p:spPr>
          <a:xfrm>
            <a:off x="2560320" y="2423160"/>
            <a:ext cx="5303520" cy="365760"/>
          </a:xfrm>
          <a:prstGeom prst="rect">
            <a:avLst/>
          </a:prstGeom>
          <a:noFill/>
        </p:spPr>
        <p:txBody>
          <a:bodyPr wrap="square">
            <a:spAutoFit/>
          </a:bodyPr>
          <a:lstStyle/>
          <a:p>
            <a:pPr>
              <a:spcAft>
                <a:spcPts val="1000"/>
              </a:spcAft>
              <a:defRPr sz="1500" b="0">
                <a:solidFill>
                  <a:srgbClr val="173C31"/>
                </a:solidFill>
                <a:latin typeface="Noto Sans CJK KR"/>
              </a:defRPr>
            </a:pPr>
            <a:r>
              <a:t>HTML · CSS · JavaScript</a:t>
            </a:r>
          </a:p>
        </p:txBody>
      </p:sp>
      <p:sp>
        <p:nvSpPr>
          <p:cNvPr id="11" name="TextBox 10"/>
          <p:cNvSpPr txBox="1"/>
          <p:nvPr/>
        </p:nvSpPr>
        <p:spPr>
          <a:xfrm>
            <a:off x="7955279" y="2423160"/>
            <a:ext cx="3474720" cy="365760"/>
          </a:xfrm>
          <a:prstGeom prst="rect">
            <a:avLst/>
          </a:prstGeom>
          <a:noFill/>
        </p:spPr>
        <p:txBody>
          <a:bodyPr wrap="square">
            <a:spAutoFit/>
          </a:bodyPr>
          <a:lstStyle/>
          <a:p>
            <a:pPr>
              <a:spcAft>
                <a:spcPts val="1000"/>
              </a:spcAft>
              <a:defRPr sz="1400" b="0">
                <a:solidFill>
                  <a:srgbClr val="62776C"/>
                </a:solidFill>
                <a:latin typeface="Noto Sans CJK KR"/>
              </a:defRPr>
            </a:pPr>
            <a:r>
              <a:t>시민·공무원 화면 구현</a:t>
            </a:r>
          </a:p>
        </p:txBody>
      </p:sp>
      <p:sp>
        <p:nvSpPr>
          <p:cNvPr id="12" name="Rectangle 11"/>
          <p:cNvSpPr/>
          <p:nvPr/>
        </p:nvSpPr>
        <p:spPr>
          <a:xfrm>
            <a:off x="594360" y="2907791"/>
            <a:ext cx="11018520" cy="512064"/>
          </a:xfrm>
          <a:prstGeom prst="rect">
            <a:avLst/>
          </a:prstGeom>
          <a:solidFill>
            <a:srgbClr val="E8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999232"/>
            <a:ext cx="1645920" cy="365760"/>
          </a:xfrm>
          <a:prstGeom prst="rect">
            <a:avLst/>
          </a:prstGeom>
          <a:noFill/>
        </p:spPr>
        <p:txBody>
          <a:bodyPr wrap="square">
            <a:spAutoFit/>
          </a:bodyPr>
          <a:lstStyle/>
          <a:p>
            <a:pPr>
              <a:spcAft>
                <a:spcPts val="1000"/>
              </a:spcAft>
              <a:defRPr sz="1500" b="1">
                <a:solidFill>
                  <a:srgbClr val="23785A"/>
                </a:solidFill>
                <a:latin typeface="Noto Sans CJK KR"/>
              </a:defRPr>
            </a:pPr>
            <a:r>
              <a:t>사진 분석</a:t>
            </a:r>
          </a:p>
        </p:txBody>
      </p:sp>
      <p:sp>
        <p:nvSpPr>
          <p:cNvPr id="14" name="TextBox 13"/>
          <p:cNvSpPr txBox="1"/>
          <p:nvPr/>
        </p:nvSpPr>
        <p:spPr>
          <a:xfrm>
            <a:off x="2560320" y="2999232"/>
            <a:ext cx="5303520" cy="365760"/>
          </a:xfrm>
          <a:prstGeom prst="rect">
            <a:avLst/>
          </a:prstGeom>
          <a:noFill/>
        </p:spPr>
        <p:txBody>
          <a:bodyPr wrap="square">
            <a:spAutoFit/>
          </a:bodyPr>
          <a:lstStyle/>
          <a:p>
            <a:pPr>
              <a:spcAft>
                <a:spcPts val="1000"/>
              </a:spcAft>
              <a:defRPr sz="1500" b="0">
                <a:solidFill>
                  <a:srgbClr val="173C31"/>
                </a:solidFill>
                <a:latin typeface="Noto Sans CJK KR"/>
              </a:defRPr>
            </a:pPr>
            <a:r>
              <a:t>Vercel AI Gateway + GPT-4o-mini</a:t>
            </a:r>
          </a:p>
        </p:txBody>
      </p:sp>
      <p:sp>
        <p:nvSpPr>
          <p:cNvPr id="15" name="TextBox 14"/>
          <p:cNvSpPr txBox="1"/>
          <p:nvPr/>
        </p:nvSpPr>
        <p:spPr>
          <a:xfrm>
            <a:off x="7955279" y="2999232"/>
            <a:ext cx="3474720" cy="365760"/>
          </a:xfrm>
          <a:prstGeom prst="rect">
            <a:avLst/>
          </a:prstGeom>
          <a:noFill/>
        </p:spPr>
        <p:txBody>
          <a:bodyPr wrap="square">
            <a:spAutoFit/>
          </a:bodyPr>
          <a:lstStyle/>
          <a:p>
            <a:pPr>
              <a:spcAft>
                <a:spcPts val="1000"/>
              </a:spcAft>
              <a:defRPr sz="1400" b="0">
                <a:solidFill>
                  <a:srgbClr val="62776C"/>
                </a:solidFill>
                <a:latin typeface="Noto Sans CJK KR"/>
              </a:defRPr>
            </a:pPr>
            <a:r>
              <a:t>이미지의 이상 징후 관찰</a:t>
            </a:r>
          </a:p>
        </p:txBody>
      </p:sp>
      <p:sp>
        <p:nvSpPr>
          <p:cNvPr id="16" name="Rectangle 15"/>
          <p:cNvSpPr/>
          <p:nvPr/>
        </p:nvSpPr>
        <p:spPr>
          <a:xfrm>
            <a:off x="594360" y="3483863"/>
            <a:ext cx="11018520" cy="5120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575303"/>
            <a:ext cx="1645920" cy="365760"/>
          </a:xfrm>
          <a:prstGeom prst="rect">
            <a:avLst/>
          </a:prstGeom>
          <a:noFill/>
        </p:spPr>
        <p:txBody>
          <a:bodyPr wrap="square">
            <a:spAutoFit/>
          </a:bodyPr>
          <a:lstStyle/>
          <a:p>
            <a:pPr>
              <a:spcAft>
                <a:spcPts val="1000"/>
              </a:spcAft>
              <a:defRPr sz="1500" b="1">
                <a:solidFill>
                  <a:srgbClr val="23785A"/>
                </a:solidFill>
                <a:latin typeface="Noto Sans CJK KR"/>
              </a:defRPr>
            </a:pPr>
            <a:r>
              <a:t>지도</a:t>
            </a:r>
          </a:p>
        </p:txBody>
      </p:sp>
      <p:sp>
        <p:nvSpPr>
          <p:cNvPr id="18" name="TextBox 17"/>
          <p:cNvSpPr txBox="1"/>
          <p:nvPr/>
        </p:nvSpPr>
        <p:spPr>
          <a:xfrm>
            <a:off x="2560320" y="3575303"/>
            <a:ext cx="5303520" cy="365760"/>
          </a:xfrm>
          <a:prstGeom prst="rect">
            <a:avLst/>
          </a:prstGeom>
          <a:noFill/>
        </p:spPr>
        <p:txBody>
          <a:bodyPr wrap="square">
            <a:spAutoFit/>
          </a:bodyPr>
          <a:lstStyle/>
          <a:p>
            <a:pPr>
              <a:spcAft>
                <a:spcPts val="1000"/>
              </a:spcAft>
              <a:defRPr sz="1500" b="0">
                <a:solidFill>
                  <a:srgbClr val="173C31"/>
                </a:solidFill>
                <a:latin typeface="Noto Sans CJK KR"/>
              </a:defRPr>
            </a:pPr>
            <a:r>
              <a:t>Leaflet + OpenStreetMap</a:t>
            </a:r>
          </a:p>
        </p:txBody>
      </p:sp>
      <p:sp>
        <p:nvSpPr>
          <p:cNvPr id="19" name="TextBox 18"/>
          <p:cNvSpPr txBox="1"/>
          <p:nvPr/>
        </p:nvSpPr>
        <p:spPr>
          <a:xfrm>
            <a:off x="7955279" y="3575303"/>
            <a:ext cx="3474720" cy="365760"/>
          </a:xfrm>
          <a:prstGeom prst="rect">
            <a:avLst/>
          </a:prstGeom>
          <a:noFill/>
        </p:spPr>
        <p:txBody>
          <a:bodyPr wrap="square">
            <a:spAutoFit/>
          </a:bodyPr>
          <a:lstStyle/>
          <a:p>
            <a:pPr>
              <a:spcAft>
                <a:spcPts val="1000"/>
              </a:spcAft>
              <a:defRPr sz="1400" b="0">
                <a:solidFill>
                  <a:srgbClr val="62776C"/>
                </a:solidFill>
                <a:latin typeface="Noto Sans CJK KR"/>
              </a:defRPr>
            </a:pPr>
            <a:r>
              <a:t>위치·핀·참고 분석 구역 표시</a:t>
            </a:r>
          </a:p>
        </p:txBody>
      </p:sp>
      <p:sp>
        <p:nvSpPr>
          <p:cNvPr id="20" name="Rectangle 19"/>
          <p:cNvSpPr/>
          <p:nvPr/>
        </p:nvSpPr>
        <p:spPr>
          <a:xfrm>
            <a:off x="594360" y="4059935"/>
            <a:ext cx="11018520" cy="512064"/>
          </a:xfrm>
          <a:prstGeom prst="rect">
            <a:avLst/>
          </a:prstGeom>
          <a:solidFill>
            <a:srgbClr val="E8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151375"/>
            <a:ext cx="1645920" cy="365760"/>
          </a:xfrm>
          <a:prstGeom prst="rect">
            <a:avLst/>
          </a:prstGeom>
          <a:noFill/>
        </p:spPr>
        <p:txBody>
          <a:bodyPr wrap="square">
            <a:spAutoFit/>
          </a:bodyPr>
          <a:lstStyle/>
          <a:p>
            <a:pPr>
              <a:spcAft>
                <a:spcPts val="1000"/>
              </a:spcAft>
              <a:defRPr sz="1500" b="1">
                <a:solidFill>
                  <a:srgbClr val="23785A"/>
                </a:solidFill>
                <a:latin typeface="Noto Sans CJK KR"/>
              </a:defRPr>
            </a:pPr>
            <a:r>
              <a:t>데이터 저장</a:t>
            </a:r>
          </a:p>
        </p:txBody>
      </p:sp>
      <p:sp>
        <p:nvSpPr>
          <p:cNvPr id="22" name="TextBox 21"/>
          <p:cNvSpPr txBox="1"/>
          <p:nvPr/>
        </p:nvSpPr>
        <p:spPr>
          <a:xfrm>
            <a:off x="2560320" y="4151375"/>
            <a:ext cx="5303520" cy="365760"/>
          </a:xfrm>
          <a:prstGeom prst="rect">
            <a:avLst/>
          </a:prstGeom>
          <a:noFill/>
        </p:spPr>
        <p:txBody>
          <a:bodyPr wrap="square">
            <a:spAutoFit/>
          </a:bodyPr>
          <a:lstStyle/>
          <a:p>
            <a:pPr>
              <a:spcAft>
                <a:spcPts val="1000"/>
              </a:spcAft>
              <a:defRPr sz="1500" b="0">
                <a:solidFill>
                  <a:srgbClr val="173C31"/>
                </a:solidFill>
                <a:latin typeface="Noto Sans CJK KR"/>
              </a:defRPr>
            </a:pPr>
            <a:r>
              <a:t>비공개 Vercel Blob</a:t>
            </a:r>
          </a:p>
        </p:txBody>
      </p:sp>
      <p:sp>
        <p:nvSpPr>
          <p:cNvPr id="23" name="TextBox 22"/>
          <p:cNvSpPr txBox="1"/>
          <p:nvPr/>
        </p:nvSpPr>
        <p:spPr>
          <a:xfrm>
            <a:off x="7955279" y="4151375"/>
            <a:ext cx="3474720" cy="365760"/>
          </a:xfrm>
          <a:prstGeom prst="rect">
            <a:avLst/>
          </a:prstGeom>
          <a:noFill/>
        </p:spPr>
        <p:txBody>
          <a:bodyPr wrap="square">
            <a:spAutoFit/>
          </a:bodyPr>
          <a:lstStyle/>
          <a:p>
            <a:pPr>
              <a:spcAft>
                <a:spcPts val="1000"/>
              </a:spcAft>
              <a:defRPr sz="1400" b="0">
                <a:solidFill>
                  <a:srgbClr val="62776C"/>
                </a:solidFill>
                <a:latin typeface="Noto Sans CJK KR"/>
              </a:defRPr>
            </a:pPr>
            <a:r>
              <a:t>사진·제보·처리 기록 저장</a:t>
            </a:r>
          </a:p>
        </p:txBody>
      </p:sp>
      <p:sp>
        <p:nvSpPr>
          <p:cNvPr id="24" name="Rectangle 23"/>
          <p:cNvSpPr/>
          <p:nvPr/>
        </p:nvSpPr>
        <p:spPr>
          <a:xfrm>
            <a:off x="594360" y="4636008"/>
            <a:ext cx="11018520" cy="5120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4727448"/>
            <a:ext cx="1645920" cy="365760"/>
          </a:xfrm>
          <a:prstGeom prst="rect">
            <a:avLst/>
          </a:prstGeom>
          <a:noFill/>
        </p:spPr>
        <p:txBody>
          <a:bodyPr wrap="square">
            <a:spAutoFit/>
          </a:bodyPr>
          <a:lstStyle/>
          <a:p>
            <a:pPr>
              <a:spcAft>
                <a:spcPts val="1000"/>
              </a:spcAft>
              <a:defRPr sz="1500" b="1">
                <a:solidFill>
                  <a:srgbClr val="23785A"/>
                </a:solidFill>
                <a:latin typeface="Noto Sans CJK KR"/>
              </a:defRPr>
            </a:pPr>
            <a:r>
              <a:t>로그인</a:t>
            </a:r>
          </a:p>
        </p:txBody>
      </p:sp>
      <p:sp>
        <p:nvSpPr>
          <p:cNvPr id="26" name="TextBox 25"/>
          <p:cNvSpPr txBox="1"/>
          <p:nvPr/>
        </p:nvSpPr>
        <p:spPr>
          <a:xfrm>
            <a:off x="2560320" y="4727448"/>
            <a:ext cx="5303520" cy="365760"/>
          </a:xfrm>
          <a:prstGeom prst="rect">
            <a:avLst/>
          </a:prstGeom>
          <a:noFill/>
        </p:spPr>
        <p:txBody>
          <a:bodyPr wrap="square">
            <a:spAutoFit/>
          </a:bodyPr>
          <a:lstStyle/>
          <a:p>
            <a:pPr>
              <a:spcAft>
                <a:spcPts val="1000"/>
              </a:spcAft>
              <a:defRPr sz="1500" b="0">
                <a:solidFill>
                  <a:srgbClr val="173C31"/>
                </a:solidFill>
                <a:latin typeface="Noto Sans CJK KR"/>
              </a:defRPr>
            </a:pPr>
            <a:r>
              <a:t>서버 비밀번호 해시 검증 + 로그인 쿠키</a:t>
            </a:r>
          </a:p>
        </p:txBody>
      </p:sp>
      <p:sp>
        <p:nvSpPr>
          <p:cNvPr id="27" name="TextBox 26"/>
          <p:cNvSpPr txBox="1"/>
          <p:nvPr/>
        </p:nvSpPr>
        <p:spPr>
          <a:xfrm>
            <a:off x="7955279" y="4727448"/>
            <a:ext cx="3474720" cy="365760"/>
          </a:xfrm>
          <a:prstGeom prst="rect">
            <a:avLst/>
          </a:prstGeom>
          <a:noFill/>
        </p:spPr>
        <p:txBody>
          <a:bodyPr wrap="square">
            <a:spAutoFit/>
          </a:bodyPr>
          <a:lstStyle/>
          <a:p>
            <a:pPr>
              <a:spcAft>
                <a:spcPts val="1000"/>
              </a:spcAft>
              <a:defRPr sz="1400" b="0">
                <a:solidFill>
                  <a:srgbClr val="62776C"/>
                </a:solidFill>
                <a:latin typeface="Noto Sans CJK KR"/>
              </a:defRPr>
            </a:pPr>
            <a:r>
              <a:t>담당자 로그인 처리</a:t>
            </a:r>
          </a:p>
        </p:txBody>
      </p:sp>
      <p:sp>
        <p:nvSpPr>
          <p:cNvPr id="28" name="Rectangle 27"/>
          <p:cNvSpPr/>
          <p:nvPr/>
        </p:nvSpPr>
        <p:spPr>
          <a:xfrm>
            <a:off x="594360" y="5212079"/>
            <a:ext cx="11018520" cy="512064"/>
          </a:xfrm>
          <a:prstGeom prst="rect">
            <a:avLst/>
          </a:prstGeom>
          <a:solidFill>
            <a:srgbClr val="E8ED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5303519"/>
            <a:ext cx="1645920" cy="365760"/>
          </a:xfrm>
          <a:prstGeom prst="rect">
            <a:avLst/>
          </a:prstGeom>
          <a:noFill/>
        </p:spPr>
        <p:txBody>
          <a:bodyPr wrap="square">
            <a:spAutoFit/>
          </a:bodyPr>
          <a:lstStyle/>
          <a:p>
            <a:pPr>
              <a:spcAft>
                <a:spcPts val="1000"/>
              </a:spcAft>
              <a:defRPr sz="1500" b="1">
                <a:solidFill>
                  <a:srgbClr val="23785A"/>
                </a:solidFill>
                <a:latin typeface="Noto Sans CJK KR"/>
              </a:defRPr>
            </a:pPr>
            <a:r>
              <a:t>공개 배포</a:t>
            </a:r>
          </a:p>
        </p:txBody>
      </p:sp>
      <p:sp>
        <p:nvSpPr>
          <p:cNvPr id="30" name="TextBox 29"/>
          <p:cNvSpPr txBox="1"/>
          <p:nvPr/>
        </p:nvSpPr>
        <p:spPr>
          <a:xfrm>
            <a:off x="2560320" y="5303519"/>
            <a:ext cx="5303520" cy="365760"/>
          </a:xfrm>
          <a:prstGeom prst="rect">
            <a:avLst/>
          </a:prstGeom>
          <a:noFill/>
        </p:spPr>
        <p:txBody>
          <a:bodyPr wrap="square">
            <a:spAutoFit/>
          </a:bodyPr>
          <a:lstStyle/>
          <a:p>
            <a:pPr>
              <a:spcAft>
                <a:spcPts val="1000"/>
              </a:spcAft>
              <a:defRPr sz="1500" b="0">
                <a:solidFill>
                  <a:srgbClr val="173C31"/>
                </a:solidFill>
                <a:latin typeface="Noto Sans CJK KR"/>
              </a:defRPr>
            </a:pPr>
            <a:r>
              <a:t>Vercel</a:t>
            </a:r>
          </a:p>
        </p:txBody>
      </p:sp>
      <p:sp>
        <p:nvSpPr>
          <p:cNvPr id="31" name="TextBox 30"/>
          <p:cNvSpPr txBox="1"/>
          <p:nvPr/>
        </p:nvSpPr>
        <p:spPr>
          <a:xfrm>
            <a:off x="7955279" y="5303519"/>
            <a:ext cx="3474720" cy="365760"/>
          </a:xfrm>
          <a:prstGeom prst="rect">
            <a:avLst/>
          </a:prstGeom>
          <a:noFill/>
        </p:spPr>
        <p:txBody>
          <a:bodyPr wrap="square">
            <a:spAutoFit/>
          </a:bodyPr>
          <a:lstStyle/>
          <a:p>
            <a:pPr>
              <a:spcAft>
                <a:spcPts val="1000"/>
              </a:spcAft>
              <a:defRPr sz="1400" b="0">
                <a:solidFill>
                  <a:srgbClr val="62776C"/>
                </a:solidFill>
                <a:latin typeface="Noto Sans CJK KR"/>
              </a:defRPr>
            </a:pPr>
            <a:r>
              <a:t>다른 사용자도 접속 가능한 웹 배포</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EF"/>
        </a:solidFill>
        <a:effectLst/>
      </p:bgPr>
    </p:bg>
    <p:spTree>
      <p:nvGrpSpPr>
        <p:cNvPr id="1" name=""/>
        <p:cNvGrpSpPr/>
        <p:nvPr/>
      </p:nvGrpSpPr>
      <p:grpSpPr/>
      <p:sp>
        <p:nvSpPr>
          <p:cNvPr id="2" name="TextBox 1"/>
          <p:cNvSpPr txBox="1"/>
          <p:nvPr/>
        </p:nvSpPr>
        <p:spPr>
          <a:xfrm>
            <a:off x="502920" y="210312"/>
            <a:ext cx="10058400" cy="274320"/>
          </a:xfrm>
          <a:prstGeom prst="rect">
            <a:avLst/>
          </a:prstGeom>
          <a:noFill/>
        </p:spPr>
        <p:txBody>
          <a:bodyPr wrap="square">
            <a:spAutoFit/>
          </a:bodyPr>
          <a:lstStyle/>
          <a:p>
            <a:pPr>
              <a:spcAft>
                <a:spcPts val="1000"/>
              </a:spcAft>
              <a:defRPr sz="1000" b="1">
                <a:solidFill>
                  <a:srgbClr val="23785A"/>
                </a:solidFill>
                <a:latin typeface="Noto Sans CJK KR"/>
              </a:defRPr>
            </a:pPr>
            <a:r>
              <a:t>PINESHIELD   /   시민 참여형 소나무 보호 서비스</a:t>
            </a:r>
          </a:p>
        </p:txBody>
      </p:sp>
      <p:sp>
        <p:nvSpPr>
          <p:cNvPr id="3" name="TextBox 2"/>
          <p:cNvSpPr txBox="1"/>
          <p:nvPr/>
        </p:nvSpPr>
        <p:spPr>
          <a:xfrm>
            <a:off x="548640" y="822960"/>
            <a:ext cx="10972800" cy="685800"/>
          </a:xfrm>
          <a:prstGeom prst="rect">
            <a:avLst/>
          </a:prstGeom>
          <a:noFill/>
        </p:spPr>
        <p:txBody>
          <a:bodyPr wrap="square">
            <a:spAutoFit/>
          </a:bodyPr>
          <a:lstStyle/>
          <a:p>
            <a:pPr>
              <a:spcAft>
                <a:spcPts val="1000"/>
              </a:spcAft>
              <a:defRPr sz="3000" b="1">
                <a:solidFill>
                  <a:srgbClr val="173C31"/>
                </a:solidFill>
                <a:latin typeface="Noto Sans CJK KR"/>
              </a:defRPr>
            </a:pPr>
            <a:r>
              <a:t>팀 역할 분담</a:t>
            </a:r>
          </a:p>
        </p:txBody>
      </p:sp>
      <p:sp>
        <p:nvSpPr>
          <p:cNvPr id="4" name="TextBox 3"/>
          <p:cNvSpPr txBox="1"/>
          <p:nvPr/>
        </p:nvSpPr>
        <p:spPr>
          <a:xfrm>
            <a:off x="576072" y="1572768"/>
            <a:ext cx="10972800" cy="594360"/>
          </a:xfrm>
          <a:prstGeom prst="rect">
            <a:avLst/>
          </a:prstGeom>
          <a:noFill/>
        </p:spPr>
        <p:txBody>
          <a:bodyPr wrap="square">
            <a:spAutoFit/>
          </a:bodyPr>
          <a:lstStyle/>
          <a:p>
            <a:pPr>
              <a:spcAft>
                <a:spcPts val="1000"/>
              </a:spcAft>
              <a:defRPr sz="1500" b="0">
                <a:solidFill>
                  <a:srgbClr val="62776C"/>
                </a:solidFill>
                <a:latin typeface="Noto Sans CJK KR"/>
              </a:defRPr>
            </a:pPr>
            <a:r>
              <a:t>제안안  /  실제 수행 내역에 맞게 발표 전 조정</a:t>
            </a:r>
          </a:p>
        </p:txBody>
      </p:sp>
      <p:sp>
        <p:nvSpPr>
          <p:cNvPr id="5" name="Rectangle 4"/>
          <p:cNvSpPr/>
          <p:nvPr/>
        </p:nvSpPr>
        <p:spPr>
          <a:xfrm>
            <a:off x="548640" y="6382512"/>
            <a:ext cx="11064240" cy="10972"/>
          </a:xfrm>
          <a:prstGeom prst="rect">
            <a:avLst/>
          </a:prstGeom>
          <a:solidFill>
            <a:srgbClr val="DBE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510528"/>
            <a:ext cx="9144000" cy="201168"/>
          </a:xfrm>
          <a:prstGeom prst="rect">
            <a:avLst/>
          </a:prstGeom>
          <a:noFill/>
        </p:spPr>
        <p:txBody>
          <a:bodyPr wrap="square">
            <a:spAutoFit/>
          </a:bodyPr>
          <a:lstStyle/>
          <a:p>
            <a:pPr>
              <a:spcAft>
                <a:spcPts val="1000"/>
              </a:spcAft>
              <a:defRPr sz="900" b="0">
                <a:solidFill>
                  <a:srgbClr val="62776C"/>
                </a:solidFill>
                <a:latin typeface="Noto Sans CJK KR"/>
              </a:defRPr>
            </a:pPr>
            <a:r>
              <a:t>박주호 · 조형준 · 도광민</a:t>
            </a:r>
          </a:p>
        </p:txBody>
      </p:sp>
      <p:sp>
        <p:nvSpPr>
          <p:cNvPr id="7" name="TextBox 6"/>
          <p:cNvSpPr txBox="1"/>
          <p:nvPr/>
        </p:nvSpPr>
        <p:spPr>
          <a:xfrm>
            <a:off x="10972800" y="6473952"/>
            <a:ext cx="640080" cy="274320"/>
          </a:xfrm>
          <a:prstGeom prst="rect">
            <a:avLst/>
          </a:prstGeom>
          <a:noFill/>
        </p:spPr>
        <p:txBody>
          <a:bodyPr wrap="square">
            <a:spAutoFit/>
          </a:bodyPr>
          <a:lstStyle/>
          <a:p>
            <a:pPr>
              <a:spcAft>
                <a:spcPts val="1000"/>
              </a:spcAft>
              <a:defRPr sz="900" b="0">
                <a:solidFill>
                  <a:srgbClr val="62776C"/>
                </a:solidFill>
                <a:latin typeface="Noto Sans CJK KR"/>
              </a:defRPr>
            </a:pPr>
            <a:r>
              <a:t>11 / 13</a:t>
            </a:r>
          </a:p>
        </p:txBody>
      </p:sp>
      <p:sp>
        <p:nvSpPr>
          <p:cNvPr id="8" name="Rounded Rectangle 7"/>
          <p:cNvSpPr/>
          <p:nvPr/>
        </p:nvSpPr>
        <p:spPr>
          <a:xfrm>
            <a:off x="594360" y="2423160"/>
            <a:ext cx="3520440" cy="3337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606040"/>
            <a:ext cx="3099816" cy="365760"/>
          </a:xfrm>
          <a:prstGeom prst="rect">
            <a:avLst/>
          </a:prstGeom>
          <a:noFill/>
        </p:spPr>
        <p:txBody>
          <a:bodyPr wrap="square">
            <a:spAutoFit/>
          </a:bodyPr>
          <a:lstStyle/>
          <a:p>
            <a:pPr>
              <a:spcAft>
                <a:spcPts val="1000"/>
              </a:spcAft>
              <a:defRPr sz="1300" b="1">
                <a:solidFill>
                  <a:srgbClr val="23785A"/>
                </a:solidFill>
                <a:latin typeface="Noto Sans CJK KR"/>
              </a:defRPr>
            </a:pPr>
            <a:r>
              <a:t>박주호</a:t>
            </a:r>
          </a:p>
        </p:txBody>
      </p:sp>
      <p:sp>
        <p:nvSpPr>
          <p:cNvPr id="10" name="TextBox 9"/>
          <p:cNvSpPr txBox="1"/>
          <p:nvPr/>
        </p:nvSpPr>
        <p:spPr>
          <a:xfrm>
            <a:off x="804672" y="3136391"/>
            <a:ext cx="3099816" cy="594360"/>
          </a:xfrm>
          <a:prstGeom prst="rect">
            <a:avLst/>
          </a:prstGeom>
          <a:noFill/>
        </p:spPr>
        <p:txBody>
          <a:bodyPr wrap="square">
            <a:spAutoFit/>
          </a:bodyPr>
          <a:lstStyle/>
          <a:p>
            <a:pPr>
              <a:spcAft>
                <a:spcPts val="1000"/>
              </a:spcAft>
              <a:defRPr sz="2200" b="1">
                <a:solidFill>
                  <a:srgbClr val="173C31"/>
                </a:solidFill>
                <a:latin typeface="Noto Sans CJK KR"/>
              </a:defRPr>
            </a:pPr>
            <a:r>
              <a:t>시민 화면·사용 흐름</a:t>
            </a:r>
          </a:p>
        </p:txBody>
      </p:sp>
      <p:sp>
        <p:nvSpPr>
          <p:cNvPr id="11" name="TextBox 10"/>
          <p:cNvSpPr txBox="1"/>
          <p:nvPr/>
        </p:nvSpPr>
        <p:spPr>
          <a:xfrm>
            <a:off x="804672" y="3813048"/>
            <a:ext cx="3099816" cy="1874519"/>
          </a:xfrm>
          <a:prstGeom prst="rect">
            <a:avLst/>
          </a:prstGeom>
          <a:noFill/>
        </p:spPr>
        <p:txBody>
          <a:bodyPr wrap="square">
            <a:spAutoFit/>
          </a:bodyPr>
          <a:lstStyle/>
          <a:p>
            <a:pPr>
              <a:spcAft>
                <a:spcPts val="1000"/>
              </a:spcAft>
              <a:defRPr sz="1700" b="0">
                <a:solidFill>
                  <a:srgbClr val="62776C"/>
                </a:solidFill>
                <a:latin typeface="Noto Sans CJK KR"/>
              </a:defRPr>
            </a:pPr>
            <a:r>
              <a:t>사진·위치 제보 화면</a:t>
            </a:r>
          </a:p>
          <a:p>
            <a:pPr>
              <a:spcAft>
                <a:spcPts val="1000"/>
              </a:spcAft>
              <a:defRPr sz="1700" b="0">
                <a:solidFill>
                  <a:srgbClr val="62776C"/>
                </a:solidFill>
                <a:latin typeface="Noto Sans CJK KR"/>
              </a:defRPr>
            </a:pPr>
            <a:r>
              <a:t>접수번호·진행상황 조회</a:t>
            </a:r>
          </a:p>
          <a:p>
            <a:pPr>
              <a:spcAft>
                <a:spcPts val="1000"/>
              </a:spcAft>
              <a:defRPr sz="1700" b="0">
                <a:solidFill>
                  <a:srgbClr val="62776C"/>
                </a:solidFill>
                <a:latin typeface="Noto Sans CJK KR"/>
              </a:defRPr>
            </a:pPr>
            <a:r>
              <a:t>화면 통합과 발표 시연</a:t>
            </a:r>
          </a:p>
        </p:txBody>
      </p:sp>
      <p:sp>
        <p:nvSpPr>
          <p:cNvPr id="12" name="Rounded Rectangle 11"/>
          <p:cNvSpPr/>
          <p:nvPr/>
        </p:nvSpPr>
        <p:spPr>
          <a:xfrm>
            <a:off x="4343400" y="2423160"/>
            <a:ext cx="3520440" cy="3337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2606040"/>
            <a:ext cx="3099816" cy="365760"/>
          </a:xfrm>
          <a:prstGeom prst="rect">
            <a:avLst/>
          </a:prstGeom>
          <a:noFill/>
        </p:spPr>
        <p:txBody>
          <a:bodyPr wrap="square">
            <a:spAutoFit/>
          </a:bodyPr>
          <a:lstStyle/>
          <a:p>
            <a:pPr>
              <a:spcAft>
                <a:spcPts val="1000"/>
              </a:spcAft>
              <a:defRPr sz="1300" b="1">
                <a:solidFill>
                  <a:srgbClr val="23785A"/>
                </a:solidFill>
                <a:latin typeface="Noto Sans CJK KR"/>
              </a:defRPr>
            </a:pPr>
            <a:r>
              <a:t>조형준</a:t>
            </a:r>
          </a:p>
        </p:txBody>
      </p:sp>
      <p:sp>
        <p:nvSpPr>
          <p:cNvPr id="14" name="TextBox 13"/>
          <p:cNvSpPr txBox="1"/>
          <p:nvPr/>
        </p:nvSpPr>
        <p:spPr>
          <a:xfrm>
            <a:off x="4553712" y="3136391"/>
            <a:ext cx="3099816" cy="594360"/>
          </a:xfrm>
          <a:prstGeom prst="rect">
            <a:avLst/>
          </a:prstGeom>
          <a:noFill/>
        </p:spPr>
        <p:txBody>
          <a:bodyPr wrap="square">
            <a:spAutoFit/>
          </a:bodyPr>
          <a:lstStyle/>
          <a:p>
            <a:pPr>
              <a:spcAft>
                <a:spcPts val="1000"/>
              </a:spcAft>
              <a:defRPr sz="2200" b="1">
                <a:solidFill>
                  <a:srgbClr val="173C31"/>
                </a:solidFill>
                <a:latin typeface="Noto Sans CJK KR"/>
              </a:defRPr>
            </a:pPr>
            <a:r>
              <a:t>AI·데이터·로그인</a:t>
            </a:r>
          </a:p>
        </p:txBody>
      </p:sp>
      <p:sp>
        <p:nvSpPr>
          <p:cNvPr id="15" name="TextBox 14"/>
          <p:cNvSpPr txBox="1"/>
          <p:nvPr/>
        </p:nvSpPr>
        <p:spPr>
          <a:xfrm>
            <a:off x="4553712" y="3813048"/>
            <a:ext cx="3099816" cy="1874519"/>
          </a:xfrm>
          <a:prstGeom prst="rect">
            <a:avLst/>
          </a:prstGeom>
          <a:noFill/>
        </p:spPr>
        <p:txBody>
          <a:bodyPr wrap="square">
            <a:spAutoFit/>
          </a:bodyPr>
          <a:lstStyle/>
          <a:p>
            <a:pPr>
              <a:spcAft>
                <a:spcPts val="1000"/>
              </a:spcAft>
              <a:defRPr sz="1700" b="0">
                <a:solidFill>
                  <a:srgbClr val="62776C"/>
                </a:solidFill>
                <a:latin typeface="Noto Sans CJK KR"/>
              </a:defRPr>
            </a:pPr>
            <a:r>
              <a:t>AI 사진 분석 연동</a:t>
            </a:r>
          </a:p>
          <a:p>
            <a:pPr>
              <a:spcAft>
                <a:spcPts val="1000"/>
              </a:spcAft>
              <a:defRPr sz="1700" b="0">
                <a:solidFill>
                  <a:srgbClr val="62776C"/>
                </a:solidFill>
                <a:latin typeface="Noto Sans CJK KR"/>
              </a:defRPr>
            </a:pPr>
            <a:r>
              <a:t>Blob 저장과 처리 기록</a:t>
            </a:r>
          </a:p>
          <a:p>
            <a:pPr>
              <a:spcAft>
                <a:spcPts val="1000"/>
              </a:spcAft>
              <a:defRPr sz="1700" b="0">
                <a:solidFill>
                  <a:srgbClr val="62776C"/>
                </a:solidFill>
                <a:latin typeface="Noto Sans CJK KR"/>
              </a:defRPr>
            </a:pPr>
            <a:r>
              <a:t>비밀번호 검증·로그인 쿠키</a:t>
            </a:r>
          </a:p>
        </p:txBody>
      </p:sp>
      <p:sp>
        <p:nvSpPr>
          <p:cNvPr id="16" name="Rounded Rectangle 15"/>
          <p:cNvSpPr/>
          <p:nvPr/>
        </p:nvSpPr>
        <p:spPr>
          <a:xfrm>
            <a:off x="8092440" y="2423160"/>
            <a:ext cx="3520440" cy="3337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02752" y="2606040"/>
            <a:ext cx="3099816" cy="365760"/>
          </a:xfrm>
          <a:prstGeom prst="rect">
            <a:avLst/>
          </a:prstGeom>
          <a:noFill/>
        </p:spPr>
        <p:txBody>
          <a:bodyPr wrap="square">
            <a:spAutoFit/>
          </a:bodyPr>
          <a:lstStyle/>
          <a:p>
            <a:pPr>
              <a:spcAft>
                <a:spcPts val="1000"/>
              </a:spcAft>
              <a:defRPr sz="1300" b="1">
                <a:solidFill>
                  <a:srgbClr val="23785A"/>
                </a:solidFill>
                <a:latin typeface="Noto Sans CJK KR"/>
              </a:defRPr>
            </a:pPr>
            <a:r>
              <a:t>도광민</a:t>
            </a:r>
          </a:p>
        </p:txBody>
      </p:sp>
      <p:sp>
        <p:nvSpPr>
          <p:cNvPr id="18" name="TextBox 17"/>
          <p:cNvSpPr txBox="1"/>
          <p:nvPr/>
        </p:nvSpPr>
        <p:spPr>
          <a:xfrm>
            <a:off x="8302752" y="3136391"/>
            <a:ext cx="3099816" cy="594360"/>
          </a:xfrm>
          <a:prstGeom prst="rect">
            <a:avLst/>
          </a:prstGeom>
          <a:noFill/>
        </p:spPr>
        <p:txBody>
          <a:bodyPr wrap="square">
            <a:spAutoFit/>
          </a:bodyPr>
          <a:lstStyle/>
          <a:p>
            <a:pPr>
              <a:spcAft>
                <a:spcPts val="1000"/>
              </a:spcAft>
              <a:defRPr sz="2200" b="1">
                <a:solidFill>
                  <a:srgbClr val="173C31"/>
                </a:solidFill>
                <a:latin typeface="Noto Sans CJK KR"/>
              </a:defRPr>
            </a:pPr>
            <a:r>
              <a:t>지도·관리·배포</a:t>
            </a:r>
          </a:p>
        </p:txBody>
      </p:sp>
      <p:sp>
        <p:nvSpPr>
          <p:cNvPr id="19" name="TextBox 18"/>
          <p:cNvSpPr txBox="1"/>
          <p:nvPr/>
        </p:nvSpPr>
        <p:spPr>
          <a:xfrm>
            <a:off x="8302752" y="3813048"/>
            <a:ext cx="3099816" cy="1874519"/>
          </a:xfrm>
          <a:prstGeom prst="rect">
            <a:avLst/>
          </a:prstGeom>
          <a:noFill/>
        </p:spPr>
        <p:txBody>
          <a:bodyPr wrap="square">
            <a:spAutoFit/>
          </a:bodyPr>
          <a:lstStyle/>
          <a:p>
            <a:pPr>
              <a:spcAft>
                <a:spcPts val="1000"/>
              </a:spcAft>
              <a:defRPr sz="1700" b="0">
                <a:solidFill>
                  <a:srgbClr val="62776C"/>
                </a:solidFill>
                <a:latin typeface="Noto Sans CJK KR"/>
              </a:defRPr>
            </a:pPr>
            <a:r>
              <a:t>제보 현황 지도·필터</a:t>
            </a:r>
          </a:p>
          <a:p>
            <a:pPr>
              <a:spcAft>
                <a:spcPts val="1000"/>
              </a:spcAft>
              <a:defRPr sz="1700" b="0">
                <a:solidFill>
                  <a:srgbClr val="62776C"/>
                </a:solidFill>
                <a:latin typeface="Noto Sans CJK KR"/>
              </a:defRPr>
            </a:pPr>
            <a:r>
              <a:t>주변 구역·방향 참고 분석</a:t>
            </a:r>
          </a:p>
          <a:p>
            <a:pPr>
              <a:spcAft>
                <a:spcPts val="1000"/>
              </a:spcAft>
              <a:defRPr sz="1700" b="0">
                <a:solidFill>
                  <a:srgbClr val="62776C"/>
                </a:solidFill>
                <a:latin typeface="Noto Sans CJK KR"/>
              </a:defRPr>
            </a:pPr>
            <a:r>
              <a:t>공무원 관리·Vercel 배포</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6EF"/>
        </a:solidFill>
        <a:effectLst/>
      </p:bgPr>
    </p:bg>
    <p:spTree>
      <p:nvGrpSpPr>
        <p:cNvPr id="1" name=""/>
        <p:cNvGrpSpPr/>
        <p:nvPr/>
      </p:nvGrpSpPr>
      <p:grpSpPr/>
      <p:sp>
        <p:nvSpPr>
          <p:cNvPr id="2" name="TextBox 1"/>
          <p:cNvSpPr txBox="1"/>
          <p:nvPr/>
        </p:nvSpPr>
        <p:spPr>
          <a:xfrm>
            <a:off x="502920" y="210312"/>
            <a:ext cx="10058400" cy="274320"/>
          </a:xfrm>
          <a:prstGeom prst="rect">
            <a:avLst/>
          </a:prstGeom>
          <a:noFill/>
        </p:spPr>
        <p:txBody>
          <a:bodyPr wrap="square">
            <a:spAutoFit/>
          </a:bodyPr>
          <a:lstStyle/>
          <a:p>
            <a:pPr>
              <a:spcAft>
                <a:spcPts val="1000"/>
              </a:spcAft>
              <a:defRPr sz="1000" b="1">
                <a:solidFill>
                  <a:srgbClr val="23785A"/>
                </a:solidFill>
                <a:latin typeface="Noto Sans CJK KR"/>
              </a:defRPr>
            </a:pPr>
            <a:r>
              <a:t>PINESHIELD   /   시민 참여형 소나무 보호 서비스</a:t>
            </a:r>
          </a:p>
        </p:txBody>
      </p:sp>
      <p:sp>
        <p:nvSpPr>
          <p:cNvPr id="3" name="TextBox 2"/>
          <p:cNvSpPr txBox="1"/>
          <p:nvPr/>
        </p:nvSpPr>
        <p:spPr>
          <a:xfrm>
            <a:off x="548640" y="822960"/>
            <a:ext cx="10972800" cy="685800"/>
          </a:xfrm>
          <a:prstGeom prst="rect">
            <a:avLst/>
          </a:prstGeom>
          <a:noFill/>
        </p:spPr>
        <p:txBody>
          <a:bodyPr wrap="square">
            <a:spAutoFit/>
          </a:bodyPr>
          <a:lstStyle/>
          <a:p>
            <a:pPr>
              <a:spcAft>
                <a:spcPts val="1000"/>
              </a:spcAft>
              <a:defRPr sz="3000" b="1">
                <a:solidFill>
                  <a:srgbClr val="173C31"/>
                </a:solidFill>
                <a:latin typeface="Noto Sans CJK KR"/>
              </a:defRPr>
            </a:pPr>
            <a:r>
              <a:t>발표 시연은 하나의 제보를 따라갑니다</a:t>
            </a:r>
          </a:p>
        </p:txBody>
      </p:sp>
      <p:sp>
        <p:nvSpPr>
          <p:cNvPr id="4" name="TextBox 3"/>
          <p:cNvSpPr txBox="1"/>
          <p:nvPr/>
        </p:nvSpPr>
        <p:spPr>
          <a:xfrm>
            <a:off x="576072" y="1572768"/>
            <a:ext cx="10972800" cy="594360"/>
          </a:xfrm>
          <a:prstGeom prst="rect">
            <a:avLst/>
          </a:prstGeom>
          <a:noFill/>
        </p:spPr>
        <p:txBody>
          <a:bodyPr wrap="square">
            <a:spAutoFit/>
          </a:bodyPr>
          <a:lstStyle/>
          <a:p>
            <a:pPr>
              <a:spcAft>
                <a:spcPts val="1000"/>
              </a:spcAft>
              <a:defRPr sz="1500" b="0">
                <a:solidFill>
                  <a:srgbClr val="62776C"/>
                </a:solidFill>
                <a:latin typeface="Noto Sans CJK KR"/>
              </a:defRPr>
            </a:pPr>
            <a:r>
              <a:t>권장 시연 순서  /  약 1분 · 새 제보가 필요하면 테스트 데이터로 명시</a:t>
            </a:r>
          </a:p>
        </p:txBody>
      </p:sp>
      <p:sp>
        <p:nvSpPr>
          <p:cNvPr id="5" name="Rectangle 4"/>
          <p:cNvSpPr/>
          <p:nvPr/>
        </p:nvSpPr>
        <p:spPr>
          <a:xfrm>
            <a:off x="548640" y="6382512"/>
            <a:ext cx="11064240" cy="10972"/>
          </a:xfrm>
          <a:prstGeom prst="rect">
            <a:avLst/>
          </a:prstGeom>
          <a:solidFill>
            <a:srgbClr val="DBE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510528"/>
            <a:ext cx="9144000" cy="201168"/>
          </a:xfrm>
          <a:prstGeom prst="rect">
            <a:avLst/>
          </a:prstGeom>
          <a:noFill/>
        </p:spPr>
        <p:txBody>
          <a:bodyPr wrap="square">
            <a:spAutoFit/>
          </a:bodyPr>
          <a:lstStyle/>
          <a:p>
            <a:pPr>
              <a:spcAft>
                <a:spcPts val="1000"/>
              </a:spcAft>
              <a:defRPr sz="900" b="0">
                <a:solidFill>
                  <a:srgbClr val="62776C"/>
                </a:solidFill>
                <a:latin typeface="Noto Sans CJK KR"/>
              </a:defRPr>
            </a:pPr>
            <a:r>
              <a:t>박주호 · 조형준 · 도광민</a:t>
            </a:r>
          </a:p>
        </p:txBody>
      </p:sp>
      <p:sp>
        <p:nvSpPr>
          <p:cNvPr id="7" name="TextBox 6"/>
          <p:cNvSpPr txBox="1"/>
          <p:nvPr/>
        </p:nvSpPr>
        <p:spPr>
          <a:xfrm>
            <a:off x="10972800" y="6473952"/>
            <a:ext cx="640080" cy="274320"/>
          </a:xfrm>
          <a:prstGeom prst="rect">
            <a:avLst/>
          </a:prstGeom>
          <a:noFill/>
        </p:spPr>
        <p:txBody>
          <a:bodyPr wrap="square">
            <a:spAutoFit/>
          </a:bodyPr>
          <a:lstStyle/>
          <a:p>
            <a:pPr>
              <a:spcAft>
                <a:spcPts val="1000"/>
              </a:spcAft>
              <a:defRPr sz="900" b="0">
                <a:solidFill>
                  <a:srgbClr val="62776C"/>
                </a:solidFill>
                <a:latin typeface="Noto Sans CJK KR"/>
              </a:defRPr>
            </a:pPr>
            <a:r>
              <a:t>12 / 13</a:t>
            </a:r>
          </a:p>
        </p:txBody>
      </p:sp>
      <p:sp>
        <p:nvSpPr>
          <p:cNvPr id="8" name="Rounded Rectangle 7"/>
          <p:cNvSpPr/>
          <p:nvPr/>
        </p:nvSpPr>
        <p:spPr>
          <a:xfrm>
            <a:off x="594360" y="2286000"/>
            <a:ext cx="594360" cy="594360"/>
          </a:xfrm>
          <a:prstGeom prst="roundRect">
            <a:avLst/>
          </a:prstGeom>
          <a:solidFill>
            <a:srgbClr val="237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2395728"/>
            <a:ext cx="457200" cy="365760"/>
          </a:xfrm>
          <a:prstGeom prst="rect">
            <a:avLst/>
          </a:prstGeom>
          <a:noFill/>
        </p:spPr>
        <p:txBody>
          <a:bodyPr wrap="square">
            <a:spAutoFit/>
          </a:bodyPr>
          <a:lstStyle/>
          <a:p>
            <a:pPr>
              <a:spcAft>
                <a:spcPts val="1000"/>
              </a:spcAft>
              <a:defRPr sz="1700" b="1">
                <a:solidFill>
                  <a:srgbClr val="FFFFFF"/>
                </a:solidFill>
                <a:latin typeface="Noto Sans CJK KR"/>
              </a:defRPr>
            </a:pPr>
            <a:r>
              <a:t>01</a:t>
            </a:r>
          </a:p>
        </p:txBody>
      </p:sp>
      <p:sp>
        <p:nvSpPr>
          <p:cNvPr id="10" name="TextBox 9"/>
          <p:cNvSpPr txBox="1"/>
          <p:nvPr/>
        </p:nvSpPr>
        <p:spPr>
          <a:xfrm>
            <a:off x="1417320" y="2377440"/>
            <a:ext cx="2377440" cy="457200"/>
          </a:xfrm>
          <a:prstGeom prst="rect">
            <a:avLst/>
          </a:prstGeom>
          <a:noFill/>
        </p:spPr>
        <p:txBody>
          <a:bodyPr wrap="square">
            <a:spAutoFit/>
          </a:bodyPr>
          <a:lstStyle/>
          <a:p>
            <a:pPr>
              <a:spcAft>
                <a:spcPts val="1000"/>
              </a:spcAft>
              <a:defRPr sz="2000" b="1">
                <a:solidFill>
                  <a:srgbClr val="173C31"/>
                </a:solidFill>
                <a:latin typeface="Noto Sans CJK KR"/>
              </a:defRPr>
            </a:pPr>
            <a:r>
              <a:t>시민 제보</a:t>
            </a:r>
          </a:p>
        </p:txBody>
      </p:sp>
      <p:sp>
        <p:nvSpPr>
          <p:cNvPr id="11" name="TextBox 10"/>
          <p:cNvSpPr txBox="1"/>
          <p:nvPr/>
        </p:nvSpPr>
        <p:spPr>
          <a:xfrm>
            <a:off x="3840480" y="2404872"/>
            <a:ext cx="7543800" cy="457200"/>
          </a:xfrm>
          <a:prstGeom prst="rect">
            <a:avLst/>
          </a:prstGeom>
          <a:noFill/>
        </p:spPr>
        <p:txBody>
          <a:bodyPr wrap="square">
            <a:spAutoFit/>
          </a:bodyPr>
          <a:lstStyle/>
          <a:p>
            <a:pPr>
              <a:spcAft>
                <a:spcPts val="1000"/>
              </a:spcAft>
              <a:defRPr sz="1800" b="0">
                <a:solidFill>
                  <a:srgbClr val="62776C"/>
                </a:solidFill>
                <a:latin typeface="Noto Sans CJK KR"/>
              </a:defRPr>
            </a:pPr>
            <a:r>
              <a:t>사진·설명 입력 → 위치 핀 조정 → 접수</a:t>
            </a:r>
          </a:p>
        </p:txBody>
      </p:sp>
      <p:sp>
        <p:nvSpPr>
          <p:cNvPr id="12" name="Rounded Rectangle 11"/>
          <p:cNvSpPr/>
          <p:nvPr/>
        </p:nvSpPr>
        <p:spPr>
          <a:xfrm>
            <a:off x="594360" y="3108960"/>
            <a:ext cx="594360" cy="594360"/>
          </a:xfrm>
          <a:prstGeom prst="roundRect">
            <a:avLst/>
          </a:prstGeom>
          <a:solidFill>
            <a:srgbClr val="237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3218688"/>
            <a:ext cx="457200" cy="365760"/>
          </a:xfrm>
          <a:prstGeom prst="rect">
            <a:avLst/>
          </a:prstGeom>
          <a:noFill/>
        </p:spPr>
        <p:txBody>
          <a:bodyPr wrap="square">
            <a:spAutoFit/>
          </a:bodyPr>
          <a:lstStyle/>
          <a:p>
            <a:pPr>
              <a:spcAft>
                <a:spcPts val="1000"/>
              </a:spcAft>
              <a:defRPr sz="1700" b="1">
                <a:solidFill>
                  <a:srgbClr val="FFFFFF"/>
                </a:solidFill>
                <a:latin typeface="Noto Sans CJK KR"/>
              </a:defRPr>
            </a:pPr>
            <a:r>
              <a:t>02</a:t>
            </a:r>
          </a:p>
        </p:txBody>
      </p:sp>
      <p:sp>
        <p:nvSpPr>
          <p:cNvPr id="14" name="TextBox 13"/>
          <p:cNvSpPr txBox="1"/>
          <p:nvPr/>
        </p:nvSpPr>
        <p:spPr>
          <a:xfrm>
            <a:off x="1417320" y="3200400"/>
            <a:ext cx="2377440" cy="457200"/>
          </a:xfrm>
          <a:prstGeom prst="rect">
            <a:avLst/>
          </a:prstGeom>
          <a:noFill/>
        </p:spPr>
        <p:txBody>
          <a:bodyPr wrap="square">
            <a:spAutoFit/>
          </a:bodyPr>
          <a:lstStyle/>
          <a:p>
            <a:pPr>
              <a:spcAft>
                <a:spcPts val="1000"/>
              </a:spcAft>
              <a:defRPr sz="2000" b="1">
                <a:solidFill>
                  <a:srgbClr val="173C31"/>
                </a:solidFill>
                <a:latin typeface="Noto Sans CJK KR"/>
              </a:defRPr>
            </a:pPr>
            <a:r>
              <a:t>AI 결과 확인</a:t>
            </a:r>
          </a:p>
        </p:txBody>
      </p:sp>
      <p:sp>
        <p:nvSpPr>
          <p:cNvPr id="15" name="TextBox 14"/>
          <p:cNvSpPr txBox="1"/>
          <p:nvPr/>
        </p:nvSpPr>
        <p:spPr>
          <a:xfrm>
            <a:off x="3840480" y="3227832"/>
            <a:ext cx="7543800" cy="457200"/>
          </a:xfrm>
          <a:prstGeom prst="rect">
            <a:avLst/>
          </a:prstGeom>
          <a:noFill/>
        </p:spPr>
        <p:txBody>
          <a:bodyPr wrap="square">
            <a:spAutoFit/>
          </a:bodyPr>
          <a:lstStyle/>
          <a:p>
            <a:pPr>
              <a:spcAft>
                <a:spcPts val="1000"/>
              </a:spcAft>
              <a:defRPr sz="1800" b="0">
                <a:solidFill>
                  <a:srgbClr val="62776C"/>
                </a:solidFill>
                <a:latin typeface="Noto Sans CJK KR"/>
              </a:defRPr>
            </a:pPr>
            <a:r>
              <a:t>요약 · 심각도 · 판단 근거 확인</a:t>
            </a:r>
          </a:p>
        </p:txBody>
      </p:sp>
      <p:sp>
        <p:nvSpPr>
          <p:cNvPr id="16" name="Rounded Rectangle 15"/>
          <p:cNvSpPr/>
          <p:nvPr/>
        </p:nvSpPr>
        <p:spPr>
          <a:xfrm>
            <a:off x="594360" y="3931920"/>
            <a:ext cx="594360" cy="594360"/>
          </a:xfrm>
          <a:prstGeom prst="roundRect">
            <a:avLst/>
          </a:prstGeom>
          <a:solidFill>
            <a:srgbClr val="237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4041648"/>
            <a:ext cx="457200" cy="365760"/>
          </a:xfrm>
          <a:prstGeom prst="rect">
            <a:avLst/>
          </a:prstGeom>
          <a:noFill/>
        </p:spPr>
        <p:txBody>
          <a:bodyPr wrap="square">
            <a:spAutoFit/>
          </a:bodyPr>
          <a:lstStyle/>
          <a:p>
            <a:pPr>
              <a:spcAft>
                <a:spcPts val="1000"/>
              </a:spcAft>
              <a:defRPr sz="1700" b="1">
                <a:solidFill>
                  <a:srgbClr val="FFFFFF"/>
                </a:solidFill>
                <a:latin typeface="Noto Sans CJK KR"/>
              </a:defRPr>
            </a:pPr>
            <a:r>
              <a:t>03</a:t>
            </a:r>
          </a:p>
        </p:txBody>
      </p:sp>
      <p:sp>
        <p:nvSpPr>
          <p:cNvPr id="18" name="TextBox 17"/>
          <p:cNvSpPr txBox="1"/>
          <p:nvPr/>
        </p:nvSpPr>
        <p:spPr>
          <a:xfrm>
            <a:off x="1417320" y="4023359"/>
            <a:ext cx="2377440" cy="457200"/>
          </a:xfrm>
          <a:prstGeom prst="rect">
            <a:avLst/>
          </a:prstGeom>
          <a:noFill/>
        </p:spPr>
        <p:txBody>
          <a:bodyPr wrap="square">
            <a:spAutoFit/>
          </a:bodyPr>
          <a:lstStyle/>
          <a:p>
            <a:pPr>
              <a:spcAft>
                <a:spcPts val="1000"/>
              </a:spcAft>
              <a:defRPr sz="2000" b="1">
                <a:solidFill>
                  <a:srgbClr val="173C31"/>
                </a:solidFill>
                <a:latin typeface="Noto Sans CJK KR"/>
              </a:defRPr>
            </a:pPr>
            <a:r>
              <a:t>담당자 처리</a:t>
            </a:r>
          </a:p>
        </p:txBody>
      </p:sp>
      <p:sp>
        <p:nvSpPr>
          <p:cNvPr id="19" name="TextBox 18"/>
          <p:cNvSpPr txBox="1"/>
          <p:nvPr/>
        </p:nvSpPr>
        <p:spPr>
          <a:xfrm>
            <a:off x="3840480" y="4050791"/>
            <a:ext cx="7543800" cy="457200"/>
          </a:xfrm>
          <a:prstGeom prst="rect">
            <a:avLst/>
          </a:prstGeom>
          <a:noFill/>
        </p:spPr>
        <p:txBody>
          <a:bodyPr wrap="square">
            <a:spAutoFit/>
          </a:bodyPr>
          <a:lstStyle/>
          <a:p>
            <a:pPr>
              <a:spcAft>
                <a:spcPts val="1000"/>
              </a:spcAft>
              <a:defRPr sz="1800" b="0">
                <a:solidFill>
                  <a:srgbClr val="62776C"/>
                </a:solidFill>
                <a:latin typeface="Noto Sans CJK KR"/>
              </a:defRPr>
            </a:pPr>
            <a:r>
              <a:t>로그인 → 제보 상세 → 상태·안내 저장</a:t>
            </a:r>
          </a:p>
        </p:txBody>
      </p:sp>
      <p:sp>
        <p:nvSpPr>
          <p:cNvPr id="20" name="Rounded Rectangle 19"/>
          <p:cNvSpPr/>
          <p:nvPr/>
        </p:nvSpPr>
        <p:spPr>
          <a:xfrm>
            <a:off x="594360" y="4754880"/>
            <a:ext cx="594360" cy="594360"/>
          </a:xfrm>
          <a:prstGeom prst="roundRect">
            <a:avLst/>
          </a:prstGeom>
          <a:solidFill>
            <a:srgbClr val="237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4864608"/>
            <a:ext cx="457200" cy="365760"/>
          </a:xfrm>
          <a:prstGeom prst="rect">
            <a:avLst/>
          </a:prstGeom>
          <a:noFill/>
        </p:spPr>
        <p:txBody>
          <a:bodyPr wrap="square">
            <a:spAutoFit/>
          </a:bodyPr>
          <a:lstStyle/>
          <a:p>
            <a:pPr>
              <a:spcAft>
                <a:spcPts val="1000"/>
              </a:spcAft>
              <a:defRPr sz="1700" b="1">
                <a:solidFill>
                  <a:srgbClr val="FFFFFF"/>
                </a:solidFill>
                <a:latin typeface="Noto Sans CJK KR"/>
              </a:defRPr>
            </a:pPr>
            <a:r>
              <a:t>04</a:t>
            </a:r>
          </a:p>
        </p:txBody>
      </p:sp>
      <p:sp>
        <p:nvSpPr>
          <p:cNvPr id="22" name="TextBox 21"/>
          <p:cNvSpPr txBox="1"/>
          <p:nvPr/>
        </p:nvSpPr>
        <p:spPr>
          <a:xfrm>
            <a:off x="1417320" y="4846320"/>
            <a:ext cx="2377440" cy="457200"/>
          </a:xfrm>
          <a:prstGeom prst="rect">
            <a:avLst/>
          </a:prstGeom>
          <a:noFill/>
        </p:spPr>
        <p:txBody>
          <a:bodyPr wrap="square">
            <a:spAutoFit/>
          </a:bodyPr>
          <a:lstStyle/>
          <a:p>
            <a:pPr>
              <a:spcAft>
                <a:spcPts val="1000"/>
              </a:spcAft>
              <a:defRPr sz="2000" b="1">
                <a:solidFill>
                  <a:srgbClr val="173C31"/>
                </a:solidFill>
                <a:latin typeface="Noto Sans CJK KR"/>
              </a:defRPr>
            </a:pPr>
            <a:r>
              <a:t>시민 조회와 지도</a:t>
            </a:r>
          </a:p>
        </p:txBody>
      </p:sp>
      <p:sp>
        <p:nvSpPr>
          <p:cNvPr id="23" name="TextBox 22"/>
          <p:cNvSpPr txBox="1"/>
          <p:nvPr/>
        </p:nvSpPr>
        <p:spPr>
          <a:xfrm>
            <a:off x="3840480" y="4873752"/>
            <a:ext cx="7543800" cy="457200"/>
          </a:xfrm>
          <a:prstGeom prst="rect">
            <a:avLst/>
          </a:prstGeom>
          <a:noFill/>
        </p:spPr>
        <p:txBody>
          <a:bodyPr wrap="square">
            <a:spAutoFit/>
          </a:bodyPr>
          <a:lstStyle/>
          <a:p>
            <a:pPr>
              <a:spcAft>
                <a:spcPts val="1000"/>
              </a:spcAft>
              <a:defRPr sz="1800" b="0">
                <a:solidFill>
                  <a:srgbClr val="62776C"/>
                </a:solidFill>
                <a:latin typeface="Noto Sans CJK KR"/>
              </a:defRPr>
            </a:pPr>
            <a:r>
              <a:t>접수번호 조회 → 변경 이력 → 지도 필터</a:t>
            </a:r>
          </a:p>
        </p:txBody>
      </p:sp>
      <p:sp>
        <p:nvSpPr>
          <p:cNvPr id="24" name="TextBox 23"/>
          <p:cNvSpPr txBox="1"/>
          <p:nvPr/>
        </p:nvSpPr>
        <p:spPr>
          <a:xfrm>
            <a:off x="640080" y="5806440"/>
            <a:ext cx="10972800" cy="365760"/>
          </a:xfrm>
          <a:prstGeom prst="rect">
            <a:avLst/>
          </a:prstGeom>
          <a:noFill/>
        </p:spPr>
        <p:txBody>
          <a:bodyPr wrap="square">
            <a:spAutoFit/>
          </a:bodyPr>
          <a:lstStyle/>
          <a:p>
            <a:pPr>
              <a:spcAft>
                <a:spcPts val="1000"/>
              </a:spcAft>
              <a:defRPr sz="1500" b="0">
                <a:solidFill>
                  <a:srgbClr val="23785A"/>
                </a:solidFill>
                <a:latin typeface="Noto Sans CJK KR"/>
              </a:defRPr>
            </a:pPr>
            <a:r>
              <a:rPr>
                <a:hlinkClick r:id="rId2"/>
              </a:rPr>
              <a:t>서비스 접속: https://pineshield-forest.vercel.app/#reports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6EF"/>
        </a:solidFill>
        <a:effectLst/>
      </p:bgPr>
    </p:bg>
    <p:spTree>
      <p:nvGrpSpPr>
        <p:cNvPr id="1" name=""/>
        <p:cNvGrpSpPr/>
        <p:nvPr/>
      </p:nvGrpSpPr>
      <p:grpSpPr/>
      <p:sp>
        <p:nvSpPr>
          <p:cNvPr id="2" name="TextBox 1"/>
          <p:cNvSpPr txBox="1"/>
          <p:nvPr/>
        </p:nvSpPr>
        <p:spPr>
          <a:xfrm>
            <a:off x="502920" y="210312"/>
            <a:ext cx="10058400" cy="274320"/>
          </a:xfrm>
          <a:prstGeom prst="rect">
            <a:avLst/>
          </a:prstGeom>
          <a:noFill/>
        </p:spPr>
        <p:txBody>
          <a:bodyPr wrap="square">
            <a:spAutoFit/>
          </a:bodyPr>
          <a:lstStyle/>
          <a:p>
            <a:pPr>
              <a:spcAft>
                <a:spcPts val="1000"/>
              </a:spcAft>
              <a:defRPr sz="1000" b="1">
                <a:solidFill>
                  <a:srgbClr val="23785A"/>
                </a:solidFill>
                <a:latin typeface="Noto Sans CJK KR"/>
              </a:defRPr>
            </a:pPr>
            <a:r>
              <a:t>PINESHIELD   /   시민 참여형 소나무 보호 서비스</a:t>
            </a:r>
          </a:p>
        </p:txBody>
      </p:sp>
      <p:sp>
        <p:nvSpPr>
          <p:cNvPr id="3" name="TextBox 2"/>
          <p:cNvSpPr txBox="1"/>
          <p:nvPr/>
        </p:nvSpPr>
        <p:spPr>
          <a:xfrm>
            <a:off x="548640" y="822960"/>
            <a:ext cx="10972800" cy="685800"/>
          </a:xfrm>
          <a:prstGeom prst="rect">
            <a:avLst/>
          </a:prstGeom>
          <a:noFill/>
        </p:spPr>
        <p:txBody>
          <a:bodyPr wrap="square">
            <a:spAutoFit/>
          </a:bodyPr>
          <a:lstStyle/>
          <a:p>
            <a:pPr>
              <a:spcAft>
                <a:spcPts val="1000"/>
              </a:spcAft>
              <a:defRPr sz="3000" b="1">
                <a:solidFill>
                  <a:srgbClr val="173C31"/>
                </a:solidFill>
                <a:latin typeface="Noto Sans CJK KR"/>
              </a:defRPr>
            </a:pPr>
            <a:r>
              <a:t>시민의 발견이, 소나무를 지키는 행동으로</a:t>
            </a:r>
          </a:p>
        </p:txBody>
      </p:sp>
      <p:sp>
        <p:nvSpPr>
          <p:cNvPr id="4" name="TextBox 3"/>
          <p:cNvSpPr txBox="1"/>
          <p:nvPr/>
        </p:nvSpPr>
        <p:spPr>
          <a:xfrm>
            <a:off x="576072" y="1572768"/>
            <a:ext cx="10972800" cy="594360"/>
          </a:xfrm>
          <a:prstGeom prst="rect">
            <a:avLst/>
          </a:prstGeom>
          <a:noFill/>
        </p:spPr>
        <p:txBody>
          <a:bodyPr wrap="square">
            <a:spAutoFit/>
          </a:bodyPr>
          <a:lstStyle/>
          <a:p>
            <a:pPr>
              <a:spcAft>
                <a:spcPts val="1000"/>
              </a:spcAft>
              <a:defRPr sz="1500" b="0">
                <a:solidFill>
                  <a:srgbClr val="62776C"/>
                </a:solidFill>
                <a:latin typeface="Noto Sans CJK KR"/>
              </a:defRPr>
            </a:pPr>
            <a:r>
              <a:t>PineShield  /  제보와 확인, 처리와 안내를 연결합니다.</a:t>
            </a:r>
          </a:p>
        </p:txBody>
      </p:sp>
      <p:sp>
        <p:nvSpPr>
          <p:cNvPr id="5" name="Rectangle 4"/>
          <p:cNvSpPr/>
          <p:nvPr/>
        </p:nvSpPr>
        <p:spPr>
          <a:xfrm>
            <a:off x="548640" y="6382512"/>
            <a:ext cx="11064240" cy="10972"/>
          </a:xfrm>
          <a:prstGeom prst="rect">
            <a:avLst/>
          </a:prstGeom>
          <a:solidFill>
            <a:srgbClr val="DBE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6510528"/>
            <a:ext cx="9144000" cy="201168"/>
          </a:xfrm>
          <a:prstGeom prst="rect">
            <a:avLst/>
          </a:prstGeom>
          <a:noFill/>
        </p:spPr>
        <p:txBody>
          <a:bodyPr wrap="square">
            <a:spAutoFit/>
          </a:bodyPr>
          <a:lstStyle/>
          <a:p>
            <a:pPr>
              <a:spcAft>
                <a:spcPts val="1000"/>
              </a:spcAft>
              <a:defRPr sz="900" b="0">
                <a:solidFill>
                  <a:srgbClr val="62776C"/>
                </a:solidFill>
                <a:latin typeface="Noto Sans CJK KR"/>
              </a:defRPr>
            </a:pPr>
            <a:r>
              <a:t>박주호 · 조형준 · 도광민</a:t>
            </a:r>
          </a:p>
        </p:txBody>
      </p:sp>
      <p:sp>
        <p:nvSpPr>
          <p:cNvPr id="7" name="TextBox 6"/>
          <p:cNvSpPr txBox="1"/>
          <p:nvPr/>
        </p:nvSpPr>
        <p:spPr>
          <a:xfrm>
            <a:off x="10972800" y="6473952"/>
            <a:ext cx="640080" cy="274320"/>
          </a:xfrm>
          <a:prstGeom prst="rect">
            <a:avLst/>
          </a:prstGeom>
          <a:noFill/>
        </p:spPr>
        <p:txBody>
          <a:bodyPr wrap="square">
            <a:spAutoFit/>
          </a:bodyPr>
          <a:lstStyle/>
          <a:p>
            <a:pPr>
              <a:spcAft>
                <a:spcPts val="1000"/>
              </a:spcAft>
              <a:defRPr sz="900" b="0">
                <a:solidFill>
                  <a:srgbClr val="62776C"/>
                </a:solidFill>
                <a:latin typeface="Noto Sans CJK KR"/>
              </a:defRPr>
            </a:pPr>
            <a:r>
              <a:t>13 / 13</a:t>
            </a:r>
          </a:p>
        </p:txBody>
      </p:sp>
      <p:sp>
        <p:nvSpPr>
          <p:cNvPr id="8" name="Rounded Rectangle 7"/>
          <p:cNvSpPr/>
          <p:nvPr/>
        </p:nvSpPr>
        <p:spPr>
          <a:xfrm>
            <a:off x="594360" y="2468880"/>
            <a:ext cx="11018520" cy="2103120"/>
          </a:xfrm>
          <a:prstGeom prst="roundRect">
            <a:avLst/>
          </a:prstGeom>
          <a:solidFill>
            <a:srgbClr val="17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880360"/>
            <a:ext cx="10241280" cy="1463040"/>
          </a:xfrm>
          <a:prstGeom prst="rect">
            <a:avLst/>
          </a:prstGeom>
          <a:noFill/>
        </p:spPr>
        <p:txBody>
          <a:bodyPr wrap="square">
            <a:spAutoFit/>
          </a:bodyPr>
          <a:lstStyle/>
          <a:p>
            <a:pPr>
              <a:spcAft>
                <a:spcPts val="1000"/>
              </a:spcAft>
              <a:defRPr sz="2700" b="1">
                <a:solidFill>
                  <a:srgbClr val="FFFFFF"/>
                </a:solidFill>
                <a:latin typeface="Noto Sans CJK KR"/>
              </a:defRPr>
            </a:pPr>
            <a:r>
              <a:t>간편한 사진 제보</a:t>
            </a:r>
          </a:p>
          <a:p>
            <a:pPr>
              <a:spcAft>
                <a:spcPts val="1000"/>
              </a:spcAft>
              <a:defRPr sz="2700" b="1">
                <a:solidFill>
                  <a:srgbClr val="FFFFFF"/>
                </a:solidFill>
                <a:latin typeface="Noto Sans CJK KR"/>
              </a:defRPr>
            </a:pPr>
            <a:r>
              <a:t>AI의 관찰 보조 + 담당자의 확인과 처리</a:t>
            </a:r>
          </a:p>
          <a:p>
            <a:pPr>
              <a:spcAft>
                <a:spcPts val="1000"/>
              </a:spcAft>
              <a:defRPr sz="2700" b="1">
                <a:solidFill>
                  <a:srgbClr val="FFFFFF"/>
                </a:solidFill>
                <a:latin typeface="Noto Sans CJK KR"/>
              </a:defRPr>
            </a:pPr>
            <a:r>
              <a:t>접수번호로 이어지는 시민 안내</a:t>
            </a:r>
          </a:p>
        </p:txBody>
      </p:sp>
      <p:sp>
        <p:nvSpPr>
          <p:cNvPr id="10" name="TextBox 9"/>
          <p:cNvSpPr txBox="1"/>
          <p:nvPr/>
        </p:nvSpPr>
        <p:spPr>
          <a:xfrm>
            <a:off x="731520" y="5074920"/>
            <a:ext cx="10789920" cy="731520"/>
          </a:xfrm>
          <a:prstGeom prst="rect">
            <a:avLst/>
          </a:prstGeom>
          <a:noFill/>
        </p:spPr>
        <p:txBody>
          <a:bodyPr wrap="square">
            <a:spAutoFit/>
          </a:bodyPr>
          <a:lstStyle/>
          <a:p>
            <a:pPr>
              <a:spcAft>
                <a:spcPts val="1000"/>
              </a:spcAft>
              <a:defRPr sz="2000" b="1">
                <a:solidFill>
                  <a:srgbClr val="173C31"/>
                </a:solidFill>
                <a:latin typeface="Noto Sans CJK KR"/>
              </a:defRPr>
            </a:pPr>
            <a:r>
              <a:t>박주호 · 조형준 · 도광민</a:t>
            </a:r>
          </a:p>
          <a:p>
            <a:pPr>
              <a:spcAft>
                <a:spcPts val="1000"/>
              </a:spcAft>
              <a:defRPr sz="2000" b="1">
                <a:solidFill>
                  <a:srgbClr val="173C31"/>
                </a:solidFill>
                <a:latin typeface="Noto Sans CJK KR"/>
              </a:defRPr>
            </a:pPr>
            <a:r>
              <a:t>감사합니다. 질문을 받겠습니다.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